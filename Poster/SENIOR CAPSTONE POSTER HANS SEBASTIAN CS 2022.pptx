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2918400" cy="43891200"/>
  <p:notesSz cx="32099250" cy="437483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48" userDrawn="1">
          <p15:clr>
            <a:srgbClr val="A4A3A4"/>
          </p15:clr>
        </p15:guide>
        <p15:guide id="2" orient="horz" pos="26928" userDrawn="1">
          <p15:clr>
            <a:srgbClr val="A4A3A4"/>
          </p15:clr>
        </p15:guide>
        <p15:guide id="3" orient="horz" pos="2864" userDrawn="1">
          <p15:clr>
            <a:srgbClr val="A4A3A4"/>
          </p15:clr>
        </p15:guide>
        <p15:guide id="4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64"/>
    <a:srgbClr val="EAEAEA"/>
    <a:srgbClr val="C0C0C0"/>
    <a:srgbClr val="0046D2"/>
    <a:srgbClr val="FF0000"/>
    <a:srgbClr val="698ED9"/>
    <a:srgbClr val="A7C4FF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77" autoAdjust="0"/>
    <p:restoredTop sz="94660"/>
  </p:normalViewPr>
  <p:slideViewPr>
    <p:cSldViewPr snapToGrid="0">
      <p:cViewPr>
        <p:scale>
          <a:sx n="25" d="100"/>
          <a:sy n="25" d="100"/>
        </p:scale>
        <p:origin x="2802" y="-822"/>
      </p:cViewPr>
      <p:guideLst>
        <p:guide orient="horz" pos="6448"/>
        <p:guide orient="horz" pos="26928"/>
        <p:guide orient="horz" pos="286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t" anchorCtr="0" compatLnSpc="1">
            <a:prstTxWarp prst="textNoShape">
              <a:avLst/>
            </a:prstTxWarp>
          </a:bodyPr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181987" y="2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t" anchorCtr="0" compatLnSpc="1">
            <a:prstTxWarp prst="textNoShape">
              <a:avLst/>
            </a:prstTxWarp>
          </a:bodyPr>
          <a:lstStyle>
            <a:lvl1pPr algn="r">
              <a:defRPr sz="5700"/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9650" y="3276600"/>
            <a:ext cx="12307888" cy="16409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9927" y="20784215"/>
            <a:ext cx="25679400" cy="19686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b" anchorCtr="0" compatLnSpc="1">
            <a:prstTxWarp prst="textNoShape">
              <a:avLst/>
            </a:prstTxWarp>
          </a:bodyPr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81987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b" anchorCtr="0" compatLnSpc="1">
            <a:prstTxWarp prst="textNoShape">
              <a:avLst/>
            </a:prstTxWarp>
          </a:bodyPr>
          <a:lstStyle>
            <a:lvl1pPr algn="r">
              <a:defRPr sz="5700"/>
            </a:lvl1pPr>
          </a:lstStyle>
          <a:p>
            <a:fld id="{7FB84CA5-7362-492D-8EBC-472296314F2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8225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4D40FB-8398-4C90-906C-C9755161D6CD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9650" y="3276600"/>
            <a:ext cx="12307888" cy="16409988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0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gaprint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26871337" y="43194185"/>
            <a:ext cx="3106340" cy="28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29646909" y="43078402"/>
            <a:ext cx="2383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www.postersession.com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9A897-3608-4B3C-B0EF-8356550C6F0C}"/>
              </a:ext>
            </a:extLst>
          </p:cNvPr>
          <p:cNvSpPr txBox="1"/>
          <p:nvPr userDrawn="1"/>
        </p:nvSpPr>
        <p:spPr>
          <a:xfrm>
            <a:off x="-33771" y="43755630"/>
            <a:ext cx="48282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200" b="1" dirty="0">
                <a:solidFill>
                  <a:srgbClr val="003064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2pPr>
      <a:lvl3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3pPr>
      <a:lvl4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4pPr>
      <a:lvl5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5pPr>
      <a:lvl6pPr marL="457189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6pPr>
      <a:lvl7pPr marL="914377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7pPr>
      <a:lvl8pPr marL="1371566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8pPr>
      <a:lvl9pPr marL="1828754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9pPr>
    </p:titleStyle>
    <p:bodyStyle>
      <a:lvl1pPr marL="1646198" indent="-1646198" algn="l" defTabSz="4389329" rtl="0" fontAlgn="base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ea"/>
          <a:cs typeface="+mn-cs"/>
        </a:defRPr>
      </a:lvl1pPr>
      <a:lvl2pPr marL="3565436" indent="-1371566" algn="l" defTabSz="4389329" rtl="0" fontAlgn="base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</a:defRPr>
      </a:lvl2pPr>
      <a:lvl3pPr marL="5486263" indent="-1096935" algn="l" defTabSz="4389329" rtl="0" fontAlgn="base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</a:defRPr>
      </a:lvl3pPr>
      <a:lvl4pPr marL="7680133" indent="-1096935" algn="l" defTabSz="4389329" rtl="0" fontAlgn="base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4pPr>
      <a:lvl5pPr marL="9875592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5pPr>
      <a:lvl6pPr marL="10332780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6pPr>
      <a:lvl7pPr marL="10789969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7pPr>
      <a:lvl8pPr marL="11247157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8pPr>
      <a:lvl9pPr marL="11704346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11233370" y="6251848"/>
            <a:ext cx="10363200" cy="259842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AutoShape 31"/>
          <p:cNvSpPr>
            <a:spLocks noChangeArrowheads="1"/>
          </p:cNvSpPr>
          <p:nvPr/>
        </p:nvSpPr>
        <p:spPr bwMode="auto">
          <a:xfrm>
            <a:off x="21977570" y="6251848"/>
            <a:ext cx="10363200" cy="259842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489170" y="6251848"/>
            <a:ext cx="10363200" cy="259842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11461970" y="6709048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/>
              <a:t>Methods</a:t>
            </a:r>
          </a:p>
        </p:txBody>
      </p:sp>
      <p:sp>
        <p:nvSpPr>
          <p:cNvPr id="2087" name="Text Box 39"/>
          <p:cNvSpPr txBox="1">
            <a:spLocks noChangeArrowheads="1"/>
          </p:cNvSpPr>
          <p:nvPr/>
        </p:nvSpPr>
        <p:spPr bwMode="auto">
          <a:xfrm>
            <a:off x="22269671" y="9071248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20" name="AutoShape 30"/>
          <p:cNvSpPr>
            <a:spLocks noChangeArrowheads="1"/>
          </p:cNvSpPr>
          <p:nvPr/>
        </p:nvSpPr>
        <p:spPr bwMode="auto">
          <a:xfrm>
            <a:off x="489170" y="32805308"/>
            <a:ext cx="31851600" cy="10773451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1403570" y="33039549"/>
            <a:ext cx="14698434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Conclusions/Summary</a:t>
            </a:r>
          </a:p>
        </p:txBody>
      </p:sp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20068487" y="34005705"/>
            <a:ext cx="8305800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sz="6500" dirty="0"/>
              <a:t>References</a:t>
            </a:r>
          </a:p>
        </p:txBody>
      </p:sp>
      <p:sp>
        <p:nvSpPr>
          <p:cNvPr id="2086" name="Text Box 38"/>
          <p:cNvSpPr txBox="1">
            <a:spLocks noChangeArrowheads="1"/>
          </p:cNvSpPr>
          <p:nvPr/>
        </p:nvSpPr>
        <p:spPr bwMode="auto">
          <a:xfrm>
            <a:off x="17322799" y="35091552"/>
            <a:ext cx="14242831" cy="6611251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wrap="square" lIns="61171" tIns="30584" rIns="61171" bIns="30584">
            <a:spAutoFit/>
          </a:bodyPr>
          <a:lstStyle/>
          <a:p>
            <a:pPr marL="342891" indent="-342891" algn="l" defTabSz="612759" eaLnBrk="0" hangingPunct="0">
              <a:lnSpc>
                <a:spcPct val="95000"/>
              </a:lnSpc>
            </a:pPr>
            <a:endParaRPr lang="en-US" sz="2800" b="1" u="sng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800" b="1" dirty="0">
              <a:latin typeface="Times New Roman" pitchFamily="18" charset="0"/>
            </a:endParaRPr>
          </a:p>
          <a:p>
            <a:pPr marL="342891" indent="-342891" algn="l" defTabSz="612759" eaLnBrk="0" hangingPunct="0">
              <a:lnSpc>
                <a:spcPct val="95000"/>
              </a:lnSpc>
              <a:buFontTx/>
              <a:buAutoNum type="arabicPeriod"/>
            </a:pPr>
            <a:r>
              <a:rPr lang="en-US" sz="2800" b="1" dirty="0">
                <a:latin typeface="Times New Roman" pitchFamily="18" charset="0"/>
              </a:rPr>
              <a:t>L. Mandelli and S. Berretti, Cad 3d model classification by graph neural networks: A new approach based on step format, arXiv.org, Oct. 2022. Accessed: Oct. 13, 2025. [Online]. Available: https://arxiv.org/abs/2210.16815.</a:t>
            </a:r>
          </a:p>
          <a:p>
            <a:pPr marL="342891" indent="-342891" algn="l" defTabSz="612759" eaLnBrk="0" hangingPunct="0">
              <a:lnSpc>
                <a:spcPct val="95000"/>
              </a:lnSpc>
              <a:buFontTx/>
              <a:buAutoNum type="arabicPeriod"/>
            </a:pPr>
            <a:r>
              <a:rPr lang="en-US" sz="2800" b="1" dirty="0">
                <a:latin typeface="Times New Roman" pitchFamily="18" charset="0"/>
              </a:rPr>
              <a:t>M. S. Khan, S. Sinha, T. U. Sheikh, D. Stricker, S. A. Ali, and M. Z. Afzal, “Text2cad: Generating sequential cad models from beginner-to-expert level text prompts,” arXiv.org, Sep. 2024. DOI: https://doi.org/10.48550/arXiv.2409.17106. Accessed: Dec. 8, 2025. [Online]. Available: https://arxiv.org/abs/2409.17106v1 </a:t>
            </a:r>
          </a:p>
          <a:p>
            <a:pPr marL="342891" indent="-342891" algn="l" defTabSz="612759" eaLnBrk="0" hangingPunct="0">
              <a:lnSpc>
                <a:spcPct val="95000"/>
              </a:lnSpc>
              <a:buFontTx/>
              <a:buAutoNum type="arabicPeriod"/>
            </a:pPr>
            <a:r>
              <a:rPr lang="en-US" sz="2800" b="1" dirty="0">
                <a:latin typeface="Times New Roman" pitchFamily="18" charset="0"/>
              </a:rPr>
              <a:t>Xxxxxxxxxxxxxxxxxxxxxxxxxxxxxxxxxxxxxxxxxxxxxxxxxxxxxxxxxxxxxxxxxxxxxxxxxxxxxxxxxxxxxxxxxxxx</a:t>
            </a:r>
          </a:p>
          <a:p>
            <a:pPr marL="342891" indent="-342891" algn="l" defTabSz="612759" eaLnBrk="0" hangingPunct="0">
              <a:lnSpc>
                <a:spcPct val="95000"/>
              </a:lnSpc>
              <a:buFont typeface="Symbol" pitchFamily="18" charset="2"/>
              <a:buAutoNum type="arabicPeriod"/>
            </a:pPr>
            <a:r>
              <a:rPr lang="en-US" sz="2800" b="1" dirty="0">
                <a:latin typeface="Times New Roman" pitchFamily="18" charset="0"/>
              </a:rPr>
              <a:t>Xxxxxxxxxxxxxxxxxxxxxxxxxxxxxxxxxxxxxxxxxxxxxxxxxxxxxxxxxxxxxxxxxxxxxxxxxxxxxxxxxxxxxxxxxxxxxxxxxxxxxxxxxxxxxxxxxxxxxxx</a:t>
            </a:r>
          </a:p>
          <a:p>
            <a:pPr marL="342891" indent="-342891" algn="l" defTabSz="612759" eaLnBrk="0" hangingPunct="0">
              <a:lnSpc>
                <a:spcPct val="95000"/>
              </a:lnSpc>
              <a:buFont typeface="Symbol" pitchFamily="18" charset="2"/>
              <a:buAutoNum type="arabicPeriod"/>
            </a:pPr>
            <a:r>
              <a:rPr lang="en-US" sz="2800" b="1" dirty="0">
                <a:latin typeface="Times New Roman" pitchFamily="18" charset="0"/>
              </a:rPr>
              <a:t>Xxxxxxxxxxxxxxxxxxxxxxxxxxxxxxxxxxxxxxxxxxxxxxxxxxxxxxxxxxxxxxxxxxxxxxxxxxxxxxxxxxx</a:t>
            </a:r>
          </a:p>
          <a:p>
            <a:pPr marL="342891" indent="-342891" algn="l" defTabSz="612759" eaLnBrk="0" hangingPunct="0">
              <a:lnSpc>
                <a:spcPct val="95000"/>
              </a:lnSpc>
              <a:buFont typeface="Symbol" pitchFamily="18" charset="2"/>
              <a:buAutoNum type="arabicPeriod"/>
            </a:pPr>
            <a:endParaRPr lang="en-US" sz="2800" b="1" dirty="0">
              <a:latin typeface="Times New Roman" pitchFamily="18" charset="0"/>
            </a:endParaRPr>
          </a:p>
        </p:txBody>
      </p:sp>
      <p:sp>
        <p:nvSpPr>
          <p:cNvPr id="2088" name="Text Box 40"/>
          <p:cNvSpPr txBox="1">
            <a:spLocks noChangeArrowheads="1"/>
          </p:cNvSpPr>
          <p:nvPr/>
        </p:nvSpPr>
        <p:spPr bwMode="auto">
          <a:xfrm>
            <a:off x="1352770" y="35438266"/>
            <a:ext cx="15106429" cy="6494296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wrap="square"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2090" name="Text Box 42"/>
          <p:cNvSpPr txBox="1">
            <a:spLocks noChangeArrowheads="1"/>
          </p:cNvSpPr>
          <p:nvPr/>
        </p:nvSpPr>
        <p:spPr bwMode="auto">
          <a:xfrm>
            <a:off x="717770" y="6709048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Abstract </a:t>
            </a:r>
          </a:p>
        </p:txBody>
      </p:sp>
      <p:sp>
        <p:nvSpPr>
          <p:cNvPr id="2091" name="Text Box 43"/>
          <p:cNvSpPr txBox="1">
            <a:spLocks noChangeArrowheads="1"/>
          </p:cNvSpPr>
          <p:nvPr/>
        </p:nvSpPr>
        <p:spPr bwMode="auto">
          <a:xfrm>
            <a:off x="22206170" y="6720162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Findings/Results</a:t>
            </a:r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0" y="312441"/>
            <a:ext cx="32918400" cy="525780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4389329"/>
            <a:endParaRPr lang="en-US">
              <a:solidFill>
                <a:schemeClr val="bg1"/>
              </a:solidFill>
            </a:endParaRP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7065706" y="726103"/>
            <a:ext cx="25733478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sz="8000" b="1" dirty="0"/>
              <a:t>STEP File Tokenizer for Transformer-based Annotation</a:t>
            </a:r>
          </a:p>
          <a:p>
            <a:pPr defTabSz="4389329"/>
            <a:r>
              <a:rPr lang="en-US" sz="6000" dirty="0"/>
              <a:t>Panji Darma, Hans Sebastian</a:t>
            </a:r>
            <a:br>
              <a:rPr lang="en-US" sz="6000" dirty="0"/>
            </a:br>
            <a:r>
              <a:rPr lang="en-US" sz="6000" dirty="0"/>
              <a:t>Faculty of Engineering and Technology</a:t>
            </a: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0" y="2141243"/>
            <a:ext cx="283169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endParaRPr lang="en-US" b="1" dirty="0">
              <a:highlight>
                <a:srgbClr val="FFFF00"/>
              </a:highlight>
            </a:endParaRPr>
          </a:p>
          <a:p>
            <a:pPr defTabSz="4389329">
              <a:spcBef>
                <a:spcPct val="50000"/>
              </a:spcBef>
            </a:pP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97" name="Text Box 49"/>
          <p:cNvSpPr txBox="1">
            <a:spLocks noChangeArrowheads="1"/>
          </p:cNvSpPr>
          <p:nvPr/>
        </p:nvSpPr>
        <p:spPr bwMode="auto">
          <a:xfrm>
            <a:off x="29967494" y="2169817"/>
            <a:ext cx="283169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endParaRPr lang="en-US" b="1" dirty="0">
              <a:highlight>
                <a:srgbClr val="FFFF00"/>
              </a:highlight>
            </a:endParaRPr>
          </a:p>
          <a:p>
            <a:pPr defTabSz="4389329">
              <a:spcBef>
                <a:spcPct val="50000"/>
              </a:spcBef>
            </a:pP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3F8BE5-3ADD-465C-9156-10C73CFD1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437" y="1067411"/>
            <a:ext cx="7775733" cy="3355635"/>
          </a:xfrm>
          <a:prstGeom prst="rect">
            <a:avLst/>
          </a:prstGeom>
        </p:spPr>
      </p:pic>
      <p:sp>
        <p:nvSpPr>
          <p:cNvPr id="30" name="Text Box 39">
            <a:extLst>
              <a:ext uri="{FF2B5EF4-FFF2-40B4-BE49-F238E27FC236}">
                <a16:creationId xmlns:a16="http://schemas.microsoft.com/office/drawing/2014/main" id="{8A0DE85B-CFD1-4702-B730-917A031A4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7871" y="9114112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31" name="Text Box 39">
            <a:extLst>
              <a:ext uri="{FF2B5EF4-FFF2-40B4-BE49-F238E27FC236}">
                <a16:creationId xmlns:a16="http://schemas.microsoft.com/office/drawing/2014/main" id="{66E5C679-098E-47CE-ACB9-C69FC0A95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71" y="9128424"/>
            <a:ext cx="9766300" cy="7722324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The use of computers in engineering designs have largely replaced manual, </a:t>
            </a:r>
            <a:r>
              <a:rPr lang="en-US" sz="2800" dirty="0" err="1">
                <a:latin typeface="Times New Roman" pitchFamily="18" charset="0"/>
              </a:rPr>
              <a:t>handrawn</a:t>
            </a:r>
            <a:r>
              <a:rPr lang="en-US" sz="2800" dirty="0">
                <a:latin typeface="Times New Roman" pitchFamily="18" charset="0"/>
              </a:rPr>
              <a:t> design methods. However, managing large amounts of computer-aided designs (CAD) face limitations in manual annotation and automated classification methods, most of which rely on lossy conversion to other formats such as 2D/3D representations or graphs [1], which increases inference time and model complexity.</a:t>
            </a:r>
            <a:endParaRPr lang="en-US" sz="20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32" name="Text Box 39">
            <a:extLst>
              <a:ext uri="{FF2B5EF4-FFF2-40B4-BE49-F238E27FC236}">
                <a16:creationId xmlns:a16="http://schemas.microsoft.com/office/drawing/2014/main" id="{E21E3F11-860A-4627-AD2D-A66412C82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71" y="22406248"/>
            <a:ext cx="9766300" cy="471108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The use of computers in engineering designs have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24" name="Text Box 43">
            <a:extLst>
              <a:ext uri="{FF2B5EF4-FFF2-40B4-BE49-F238E27FC236}">
                <a16:creationId xmlns:a16="http://schemas.microsoft.com/office/drawing/2014/main" id="{67696F18-98F3-4CA7-8717-540D8422B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7570" y="20992692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Analysis</a:t>
            </a:r>
          </a:p>
        </p:txBody>
      </p:sp>
      <p:sp>
        <p:nvSpPr>
          <p:cNvPr id="25" name="Text Box 39">
            <a:extLst>
              <a:ext uri="{FF2B5EF4-FFF2-40B4-BE49-F238E27FC236}">
                <a16:creationId xmlns:a16="http://schemas.microsoft.com/office/drawing/2014/main" id="{F7B2E280-064A-46DC-8E13-7FE6CE38F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7921" y="23080596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0343B25F-338C-4241-876C-CE1E9A00B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70" y="20186975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Introduction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2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261</Words>
  <Application>Microsoft Office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Symbol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36x48 Horizontal Poster</dc:title>
  <dc:creator>Ethan Shulda;www.postersession.com</dc:creator>
  <cp:keywords>www.postersession.com</cp:keywords>
  <dc:description>©MegaPrint Inc. 2009-2015</dc:description>
  <cp:lastModifiedBy>PC Lab05</cp:lastModifiedBy>
  <cp:revision>81</cp:revision>
  <cp:lastPrinted>2011-03-08T18:07:35Z</cp:lastPrinted>
  <dcterms:created xsi:type="dcterms:W3CDTF">2008-12-04T00:20:37Z</dcterms:created>
  <dcterms:modified xsi:type="dcterms:W3CDTF">2026-03-05T07:24:14Z</dcterms:modified>
  <cp:category>Research Poster</cp:category>
</cp:coreProperties>
</file>