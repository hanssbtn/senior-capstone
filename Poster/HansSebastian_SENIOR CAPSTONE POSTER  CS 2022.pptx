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2918400" cy="43891200"/>
  <p:notesSz cx="32099250" cy="43748325"/>
  <p:defaultTextStyle>
    <a:defPPr>
      <a:defRPr lang="en-US"/>
    </a:defPPr>
    <a:lvl1pPr algn="ctr" rtl="0" fontAlgn="base">
      <a:spcBef>
        <a:spcPct val="0"/>
      </a:spcBef>
      <a:spcAft>
        <a:spcPct val="0"/>
      </a:spcAft>
      <a:defRPr sz="8600" kern="1200">
        <a:solidFill>
          <a:schemeClr val="tx1"/>
        </a:solidFill>
        <a:latin typeface="Arial" charset="0"/>
        <a:ea typeface="+mn-ea"/>
        <a:cs typeface="+mn-cs"/>
      </a:defRPr>
    </a:lvl1pPr>
    <a:lvl2pPr marL="457200" algn="ctr" rtl="0" fontAlgn="base">
      <a:spcBef>
        <a:spcPct val="0"/>
      </a:spcBef>
      <a:spcAft>
        <a:spcPct val="0"/>
      </a:spcAft>
      <a:defRPr sz="8600" kern="1200">
        <a:solidFill>
          <a:schemeClr val="tx1"/>
        </a:solidFill>
        <a:latin typeface="Arial" charset="0"/>
        <a:ea typeface="+mn-ea"/>
        <a:cs typeface="+mn-cs"/>
      </a:defRPr>
    </a:lvl2pPr>
    <a:lvl3pPr marL="914400" algn="ctr" rtl="0" fontAlgn="base">
      <a:spcBef>
        <a:spcPct val="0"/>
      </a:spcBef>
      <a:spcAft>
        <a:spcPct val="0"/>
      </a:spcAft>
      <a:defRPr sz="8600" kern="1200">
        <a:solidFill>
          <a:schemeClr val="tx1"/>
        </a:solidFill>
        <a:latin typeface="Arial" charset="0"/>
        <a:ea typeface="+mn-ea"/>
        <a:cs typeface="+mn-cs"/>
      </a:defRPr>
    </a:lvl3pPr>
    <a:lvl4pPr marL="1371600" algn="ctr" rtl="0" fontAlgn="base">
      <a:spcBef>
        <a:spcPct val="0"/>
      </a:spcBef>
      <a:spcAft>
        <a:spcPct val="0"/>
      </a:spcAft>
      <a:defRPr sz="8600" kern="1200">
        <a:solidFill>
          <a:schemeClr val="tx1"/>
        </a:solidFill>
        <a:latin typeface="Arial" charset="0"/>
        <a:ea typeface="+mn-ea"/>
        <a:cs typeface="+mn-cs"/>
      </a:defRPr>
    </a:lvl4pPr>
    <a:lvl5pPr marL="1828800" algn="ctr" rtl="0" fontAlgn="base">
      <a:spcBef>
        <a:spcPct val="0"/>
      </a:spcBef>
      <a:spcAft>
        <a:spcPct val="0"/>
      </a:spcAft>
      <a:defRPr sz="8600" kern="1200">
        <a:solidFill>
          <a:schemeClr val="tx1"/>
        </a:solidFill>
        <a:latin typeface="Arial" charset="0"/>
        <a:ea typeface="+mn-ea"/>
        <a:cs typeface="+mn-cs"/>
      </a:defRPr>
    </a:lvl5pPr>
    <a:lvl6pPr marL="2286000" algn="l" defTabSz="914400" rtl="0" eaLnBrk="1" latinLnBrk="0" hangingPunct="1">
      <a:defRPr sz="8600" kern="1200">
        <a:solidFill>
          <a:schemeClr val="tx1"/>
        </a:solidFill>
        <a:latin typeface="Arial" charset="0"/>
        <a:ea typeface="+mn-ea"/>
        <a:cs typeface="+mn-cs"/>
      </a:defRPr>
    </a:lvl6pPr>
    <a:lvl7pPr marL="2743200" algn="l" defTabSz="914400" rtl="0" eaLnBrk="1" latinLnBrk="0" hangingPunct="1">
      <a:defRPr sz="8600" kern="1200">
        <a:solidFill>
          <a:schemeClr val="tx1"/>
        </a:solidFill>
        <a:latin typeface="Arial" charset="0"/>
        <a:ea typeface="+mn-ea"/>
        <a:cs typeface="+mn-cs"/>
      </a:defRPr>
    </a:lvl7pPr>
    <a:lvl8pPr marL="3200400" algn="l" defTabSz="914400" rtl="0" eaLnBrk="1" latinLnBrk="0" hangingPunct="1">
      <a:defRPr sz="8600" kern="1200">
        <a:solidFill>
          <a:schemeClr val="tx1"/>
        </a:solidFill>
        <a:latin typeface="Arial" charset="0"/>
        <a:ea typeface="+mn-ea"/>
        <a:cs typeface="+mn-cs"/>
      </a:defRPr>
    </a:lvl8pPr>
    <a:lvl9pPr marL="3657600" algn="l" defTabSz="914400" rtl="0" eaLnBrk="1" latinLnBrk="0" hangingPunct="1">
      <a:defRPr sz="8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448" userDrawn="1">
          <p15:clr>
            <a:srgbClr val="A4A3A4"/>
          </p15:clr>
        </p15:guide>
        <p15:guide id="2" orient="horz" pos="26928" userDrawn="1">
          <p15:clr>
            <a:srgbClr val="A4A3A4"/>
          </p15:clr>
        </p15:guide>
        <p15:guide id="3" orient="horz" pos="2864" userDrawn="1">
          <p15:clr>
            <a:srgbClr val="A4A3A4"/>
          </p15:clr>
        </p15:guide>
        <p15:guide id="4"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064"/>
    <a:srgbClr val="EAEAEA"/>
    <a:srgbClr val="C0C0C0"/>
    <a:srgbClr val="0046D2"/>
    <a:srgbClr val="FF0000"/>
    <a:srgbClr val="698ED9"/>
    <a:srgbClr val="A7C4FF"/>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877" autoAdjust="0"/>
    <p:restoredTop sz="94660"/>
  </p:normalViewPr>
  <p:slideViewPr>
    <p:cSldViewPr snapToGrid="0">
      <p:cViewPr>
        <p:scale>
          <a:sx n="33" d="100"/>
          <a:sy n="33" d="100"/>
        </p:scale>
        <p:origin x="874" y="-456"/>
      </p:cViewPr>
      <p:guideLst>
        <p:guide orient="horz" pos="6448"/>
        <p:guide orient="horz" pos="26928"/>
        <p:guide orient="horz" pos="2864"/>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2"/>
            <a:ext cx="13909677" cy="2187419"/>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lvl1pPr algn="l">
              <a:defRPr sz="5700"/>
            </a:lvl1pPr>
          </a:lstStyle>
          <a:p>
            <a:endParaRPr lang="en-US" dirty="0"/>
          </a:p>
        </p:txBody>
      </p:sp>
      <p:sp>
        <p:nvSpPr>
          <p:cNvPr id="3075" name="Rectangle 3"/>
          <p:cNvSpPr>
            <a:spLocks noGrp="1" noChangeArrowheads="1"/>
          </p:cNvSpPr>
          <p:nvPr>
            <p:ph type="dt" idx="1"/>
          </p:nvPr>
        </p:nvSpPr>
        <p:spPr bwMode="auto">
          <a:xfrm>
            <a:off x="18181987" y="2"/>
            <a:ext cx="13909677" cy="2187419"/>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lvl1pPr algn="r">
              <a:defRPr sz="5700"/>
            </a:lvl1pPr>
          </a:lstStyle>
          <a:p>
            <a:endParaRPr lang="en-US" dirty="0"/>
          </a:p>
        </p:txBody>
      </p:sp>
      <p:sp>
        <p:nvSpPr>
          <p:cNvPr id="3076" name="Rectangle 4"/>
          <p:cNvSpPr>
            <a:spLocks noGrp="1" noRot="1" noChangeAspect="1" noChangeArrowheads="1" noTextEdit="1"/>
          </p:cNvSpPr>
          <p:nvPr>
            <p:ph type="sldImg" idx="2"/>
          </p:nvPr>
        </p:nvSpPr>
        <p:spPr bwMode="auto">
          <a:xfrm>
            <a:off x="9899650" y="3276600"/>
            <a:ext cx="12307888" cy="16409988"/>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3209927" y="20784215"/>
            <a:ext cx="25679400" cy="19686744"/>
          </a:xfrm>
          <a:prstGeom prst="rect">
            <a:avLst/>
          </a:prstGeom>
          <a:noFill/>
          <a:ln w="9525">
            <a:noFill/>
            <a:miter lim="800000"/>
            <a:headEnd/>
            <a:tailEnd/>
          </a:ln>
          <a:effectLst/>
        </p:spPr>
        <p:txBody>
          <a:bodyPr vert="horz" wrap="square" lIns="434706" tIns="217353" rIns="434706" bIns="21735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41553394"/>
            <a:ext cx="13909677" cy="2187419"/>
          </a:xfrm>
          <a:prstGeom prst="rect">
            <a:avLst/>
          </a:prstGeom>
          <a:noFill/>
          <a:ln w="9525">
            <a:noFill/>
            <a:miter lim="800000"/>
            <a:headEnd/>
            <a:tailEnd/>
          </a:ln>
          <a:effectLst/>
        </p:spPr>
        <p:txBody>
          <a:bodyPr vert="horz" wrap="square" lIns="434706" tIns="217353" rIns="434706" bIns="217353" numCol="1" anchor="b" anchorCtr="0" compatLnSpc="1">
            <a:prstTxWarp prst="textNoShape">
              <a:avLst/>
            </a:prstTxWarp>
          </a:bodyPr>
          <a:lstStyle>
            <a:lvl1pPr algn="l">
              <a:defRPr sz="5700"/>
            </a:lvl1pPr>
          </a:lstStyle>
          <a:p>
            <a:endParaRPr lang="en-US" dirty="0"/>
          </a:p>
        </p:txBody>
      </p:sp>
      <p:sp>
        <p:nvSpPr>
          <p:cNvPr id="3079" name="Rectangle 7"/>
          <p:cNvSpPr>
            <a:spLocks noGrp="1" noChangeArrowheads="1"/>
          </p:cNvSpPr>
          <p:nvPr>
            <p:ph type="sldNum" sz="quarter" idx="5"/>
          </p:nvPr>
        </p:nvSpPr>
        <p:spPr bwMode="auto">
          <a:xfrm>
            <a:off x="18181987" y="41553394"/>
            <a:ext cx="13909677" cy="2187419"/>
          </a:xfrm>
          <a:prstGeom prst="rect">
            <a:avLst/>
          </a:prstGeom>
          <a:noFill/>
          <a:ln w="9525">
            <a:noFill/>
            <a:miter lim="800000"/>
            <a:headEnd/>
            <a:tailEnd/>
          </a:ln>
          <a:effectLst/>
        </p:spPr>
        <p:txBody>
          <a:bodyPr vert="horz" wrap="square" lIns="434706" tIns="217353" rIns="434706" bIns="217353" numCol="1" anchor="b" anchorCtr="0" compatLnSpc="1">
            <a:prstTxWarp prst="textNoShape">
              <a:avLst/>
            </a:prstTxWarp>
          </a:bodyPr>
          <a:lstStyle>
            <a:lvl1pPr algn="r">
              <a:defRPr sz="5700"/>
            </a:lvl1pPr>
          </a:lstStyle>
          <a:p>
            <a:fld id="{7FB84CA5-7362-492D-8EBC-472296314F28}" type="slidenum">
              <a:rPr lang="en-US"/>
              <a:pPr/>
              <a:t>‹#›</a:t>
            </a:fld>
            <a:endParaRPr lang="en-US" dirty="0"/>
          </a:p>
        </p:txBody>
      </p:sp>
    </p:spTree>
    <p:extLst>
      <p:ext uri="{BB962C8B-B14F-4D97-AF65-F5344CB8AC3E}">
        <p14:creationId xmlns:p14="http://schemas.microsoft.com/office/powerpoint/2010/main" val="29468225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4D40FB-8398-4C90-906C-C9755161D6CD}" type="slidenum">
              <a:rPr lang="en-US"/>
              <a:pPr/>
              <a:t>1</a:t>
            </a:fld>
            <a:endParaRPr lang="en-US"/>
          </a:p>
        </p:txBody>
      </p:sp>
      <p:sp>
        <p:nvSpPr>
          <p:cNvPr id="4098" name="Rectangle 2"/>
          <p:cNvSpPr>
            <a:spLocks noGrp="1" noRot="1" noChangeAspect="1" noChangeArrowheads="1" noTextEdit="1"/>
          </p:cNvSpPr>
          <p:nvPr>
            <p:ph type="sldImg"/>
          </p:nvPr>
        </p:nvSpPr>
        <p:spPr>
          <a:xfrm>
            <a:off x="9899650" y="3276600"/>
            <a:ext cx="12307888" cy="16409988"/>
          </a:xfrm>
          <a:ln/>
        </p:spPr>
      </p:sp>
      <p:sp>
        <p:nvSpPr>
          <p:cNvPr id="40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31802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26871337" y="43194185"/>
            <a:ext cx="3106340" cy="2836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29646909" y="43078402"/>
            <a:ext cx="2383859" cy="338554"/>
          </a:xfrm>
          <a:prstGeom prst="rect">
            <a:avLst/>
          </a:prstGeom>
          <a:noFill/>
        </p:spPr>
        <p:txBody>
          <a:bodyPr wrap="none" rtlCol="0">
            <a:spAutoFit/>
          </a:bodyPr>
          <a:lstStyle/>
          <a:p>
            <a:r>
              <a:rPr lang="en-US" sz="1600" dirty="0">
                <a:solidFill>
                  <a:schemeClr val="bg1"/>
                </a:solidFill>
              </a:rPr>
              <a:t>www.postersession.com</a:t>
            </a:r>
          </a:p>
        </p:txBody>
      </p:sp>
      <p:sp>
        <p:nvSpPr>
          <p:cNvPr id="4" name="TextBox 3">
            <a:extLst>
              <a:ext uri="{FF2B5EF4-FFF2-40B4-BE49-F238E27FC236}">
                <a16:creationId xmlns:a16="http://schemas.microsoft.com/office/drawing/2014/main" id="{4839A897-3608-4B3C-B0EF-8356550C6F0C}"/>
              </a:ext>
            </a:extLst>
          </p:cNvPr>
          <p:cNvSpPr txBox="1"/>
          <p:nvPr userDrawn="1"/>
        </p:nvSpPr>
        <p:spPr>
          <a:xfrm>
            <a:off x="-33771" y="43755630"/>
            <a:ext cx="482824" cy="123111"/>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200" b="1" dirty="0">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329" rtl="0" fontAlgn="base">
        <a:spcBef>
          <a:spcPct val="0"/>
        </a:spcBef>
        <a:spcAft>
          <a:spcPct val="0"/>
        </a:spcAft>
        <a:defRPr sz="21099">
          <a:solidFill>
            <a:schemeClr val="tx2"/>
          </a:solidFill>
          <a:latin typeface="+mj-lt"/>
          <a:ea typeface="+mj-ea"/>
          <a:cs typeface="+mj-cs"/>
        </a:defRPr>
      </a:lvl1pPr>
      <a:lvl2pPr algn="ctr" defTabSz="4389329" rtl="0" fontAlgn="base">
        <a:spcBef>
          <a:spcPct val="0"/>
        </a:spcBef>
        <a:spcAft>
          <a:spcPct val="0"/>
        </a:spcAft>
        <a:defRPr sz="21099">
          <a:solidFill>
            <a:schemeClr val="tx2"/>
          </a:solidFill>
          <a:latin typeface="Arial" charset="0"/>
        </a:defRPr>
      </a:lvl2pPr>
      <a:lvl3pPr algn="ctr" defTabSz="4389329" rtl="0" fontAlgn="base">
        <a:spcBef>
          <a:spcPct val="0"/>
        </a:spcBef>
        <a:spcAft>
          <a:spcPct val="0"/>
        </a:spcAft>
        <a:defRPr sz="21099">
          <a:solidFill>
            <a:schemeClr val="tx2"/>
          </a:solidFill>
          <a:latin typeface="Arial" charset="0"/>
        </a:defRPr>
      </a:lvl3pPr>
      <a:lvl4pPr algn="ctr" defTabSz="4389329" rtl="0" fontAlgn="base">
        <a:spcBef>
          <a:spcPct val="0"/>
        </a:spcBef>
        <a:spcAft>
          <a:spcPct val="0"/>
        </a:spcAft>
        <a:defRPr sz="21099">
          <a:solidFill>
            <a:schemeClr val="tx2"/>
          </a:solidFill>
          <a:latin typeface="Arial" charset="0"/>
        </a:defRPr>
      </a:lvl4pPr>
      <a:lvl5pPr algn="ctr" defTabSz="4389329" rtl="0" fontAlgn="base">
        <a:spcBef>
          <a:spcPct val="0"/>
        </a:spcBef>
        <a:spcAft>
          <a:spcPct val="0"/>
        </a:spcAft>
        <a:defRPr sz="21099">
          <a:solidFill>
            <a:schemeClr val="tx2"/>
          </a:solidFill>
          <a:latin typeface="Arial" charset="0"/>
        </a:defRPr>
      </a:lvl5pPr>
      <a:lvl6pPr marL="457189" algn="ctr" defTabSz="4389329" rtl="0" fontAlgn="base">
        <a:spcBef>
          <a:spcPct val="0"/>
        </a:spcBef>
        <a:spcAft>
          <a:spcPct val="0"/>
        </a:spcAft>
        <a:defRPr sz="21099">
          <a:solidFill>
            <a:schemeClr val="tx2"/>
          </a:solidFill>
          <a:latin typeface="Arial" charset="0"/>
        </a:defRPr>
      </a:lvl6pPr>
      <a:lvl7pPr marL="914377" algn="ctr" defTabSz="4389329" rtl="0" fontAlgn="base">
        <a:spcBef>
          <a:spcPct val="0"/>
        </a:spcBef>
        <a:spcAft>
          <a:spcPct val="0"/>
        </a:spcAft>
        <a:defRPr sz="21099">
          <a:solidFill>
            <a:schemeClr val="tx2"/>
          </a:solidFill>
          <a:latin typeface="Arial" charset="0"/>
        </a:defRPr>
      </a:lvl7pPr>
      <a:lvl8pPr marL="1371566" algn="ctr" defTabSz="4389329" rtl="0" fontAlgn="base">
        <a:spcBef>
          <a:spcPct val="0"/>
        </a:spcBef>
        <a:spcAft>
          <a:spcPct val="0"/>
        </a:spcAft>
        <a:defRPr sz="21099">
          <a:solidFill>
            <a:schemeClr val="tx2"/>
          </a:solidFill>
          <a:latin typeface="Arial" charset="0"/>
        </a:defRPr>
      </a:lvl8pPr>
      <a:lvl9pPr marL="1828754" algn="ctr" defTabSz="4389329" rtl="0" fontAlgn="base">
        <a:spcBef>
          <a:spcPct val="0"/>
        </a:spcBef>
        <a:spcAft>
          <a:spcPct val="0"/>
        </a:spcAft>
        <a:defRPr sz="21099">
          <a:solidFill>
            <a:schemeClr val="tx2"/>
          </a:solidFill>
          <a:latin typeface="Arial" charset="0"/>
        </a:defRPr>
      </a:lvl9pPr>
    </p:titleStyle>
    <p:bodyStyle>
      <a:lvl1pPr marL="1646198" indent="-1646198" algn="l" defTabSz="4389329" rtl="0" fontAlgn="base">
        <a:spcBef>
          <a:spcPct val="20000"/>
        </a:spcBef>
        <a:spcAft>
          <a:spcPct val="0"/>
        </a:spcAft>
        <a:buChar char="•"/>
        <a:defRPr sz="15400">
          <a:solidFill>
            <a:schemeClr val="tx1"/>
          </a:solidFill>
          <a:latin typeface="+mn-lt"/>
          <a:ea typeface="+mn-ea"/>
          <a:cs typeface="+mn-cs"/>
        </a:defRPr>
      </a:lvl1pPr>
      <a:lvl2pPr marL="3565436" indent="-1371566" algn="l" defTabSz="4389329" rtl="0" fontAlgn="base">
        <a:spcBef>
          <a:spcPct val="20000"/>
        </a:spcBef>
        <a:spcAft>
          <a:spcPct val="0"/>
        </a:spcAft>
        <a:buChar char="–"/>
        <a:defRPr sz="13400">
          <a:solidFill>
            <a:schemeClr val="tx1"/>
          </a:solidFill>
          <a:latin typeface="+mn-lt"/>
        </a:defRPr>
      </a:lvl2pPr>
      <a:lvl3pPr marL="5486263" indent="-1096935" algn="l" defTabSz="4389329" rtl="0" fontAlgn="base">
        <a:spcBef>
          <a:spcPct val="20000"/>
        </a:spcBef>
        <a:spcAft>
          <a:spcPct val="0"/>
        </a:spcAft>
        <a:buChar char="•"/>
        <a:defRPr sz="11500">
          <a:solidFill>
            <a:schemeClr val="tx1"/>
          </a:solidFill>
          <a:latin typeface="+mn-lt"/>
        </a:defRPr>
      </a:lvl3pPr>
      <a:lvl4pPr marL="7680133" indent="-1096935" algn="l" defTabSz="4389329" rtl="0" fontAlgn="base">
        <a:spcBef>
          <a:spcPct val="20000"/>
        </a:spcBef>
        <a:spcAft>
          <a:spcPct val="0"/>
        </a:spcAft>
        <a:buChar char="–"/>
        <a:defRPr sz="9600">
          <a:solidFill>
            <a:schemeClr val="tx1"/>
          </a:solidFill>
          <a:latin typeface="+mn-lt"/>
        </a:defRPr>
      </a:lvl4pPr>
      <a:lvl5pPr marL="9875592" indent="-1096935" algn="l" defTabSz="4389329" rtl="0" fontAlgn="base">
        <a:spcBef>
          <a:spcPct val="20000"/>
        </a:spcBef>
        <a:spcAft>
          <a:spcPct val="0"/>
        </a:spcAft>
        <a:buChar char="»"/>
        <a:defRPr sz="9600">
          <a:solidFill>
            <a:schemeClr val="tx1"/>
          </a:solidFill>
          <a:latin typeface="+mn-lt"/>
        </a:defRPr>
      </a:lvl5pPr>
      <a:lvl6pPr marL="10332780" indent="-1096935" algn="l" defTabSz="4389329" rtl="0" fontAlgn="base">
        <a:spcBef>
          <a:spcPct val="20000"/>
        </a:spcBef>
        <a:spcAft>
          <a:spcPct val="0"/>
        </a:spcAft>
        <a:buChar char="»"/>
        <a:defRPr sz="9600">
          <a:solidFill>
            <a:schemeClr val="tx1"/>
          </a:solidFill>
          <a:latin typeface="+mn-lt"/>
        </a:defRPr>
      </a:lvl6pPr>
      <a:lvl7pPr marL="10789969" indent="-1096935" algn="l" defTabSz="4389329" rtl="0" fontAlgn="base">
        <a:spcBef>
          <a:spcPct val="20000"/>
        </a:spcBef>
        <a:spcAft>
          <a:spcPct val="0"/>
        </a:spcAft>
        <a:buChar char="»"/>
        <a:defRPr sz="9600">
          <a:solidFill>
            <a:schemeClr val="tx1"/>
          </a:solidFill>
          <a:latin typeface="+mn-lt"/>
        </a:defRPr>
      </a:lvl7pPr>
      <a:lvl8pPr marL="11247157" indent="-1096935" algn="l" defTabSz="4389329" rtl="0" fontAlgn="base">
        <a:spcBef>
          <a:spcPct val="20000"/>
        </a:spcBef>
        <a:spcAft>
          <a:spcPct val="0"/>
        </a:spcAft>
        <a:buChar char="»"/>
        <a:defRPr sz="9600">
          <a:solidFill>
            <a:schemeClr val="tx1"/>
          </a:solidFill>
          <a:latin typeface="+mn-lt"/>
        </a:defRPr>
      </a:lvl8pPr>
      <a:lvl9pPr marL="11704346" indent="-1096935" algn="l" defTabSz="4389329" rtl="0" fontAlgn="base">
        <a:spcBef>
          <a:spcPct val="20000"/>
        </a:spcBef>
        <a:spcAft>
          <a:spcPct val="0"/>
        </a:spcAft>
        <a:buChar char="»"/>
        <a:defRPr sz="96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utoShape 29"/>
          <p:cNvSpPr>
            <a:spLocks noChangeArrowheads="1"/>
          </p:cNvSpPr>
          <p:nvPr/>
        </p:nvSpPr>
        <p:spPr bwMode="auto">
          <a:xfrm>
            <a:off x="11233370" y="6251848"/>
            <a:ext cx="10363200" cy="25984200"/>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dirty="0"/>
          </a:p>
        </p:txBody>
      </p:sp>
      <p:sp>
        <p:nvSpPr>
          <p:cNvPr id="22" name="AutoShape 31"/>
          <p:cNvSpPr>
            <a:spLocks noChangeArrowheads="1"/>
          </p:cNvSpPr>
          <p:nvPr/>
        </p:nvSpPr>
        <p:spPr bwMode="auto">
          <a:xfrm>
            <a:off x="21977570" y="6251848"/>
            <a:ext cx="10363200" cy="25984200"/>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dirty="0"/>
          </a:p>
        </p:txBody>
      </p:sp>
      <p:sp>
        <p:nvSpPr>
          <p:cNvPr id="23" name="AutoShape 4"/>
          <p:cNvSpPr>
            <a:spLocks noChangeArrowheads="1"/>
          </p:cNvSpPr>
          <p:nvPr/>
        </p:nvSpPr>
        <p:spPr bwMode="auto">
          <a:xfrm>
            <a:off x="489170" y="6251848"/>
            <a:ext cx="10363200" cy="25984200"/>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dirty="0"/>
          </a:p>
        </p:txBody>
      </p:sp>
      <p:sp>
        <p:nvSpPr>
          <p:cNvPr id="2058" name="Text Box 10"/>
          <p:cNvSpPr txBox="1">
            <a:spLocks noChangeArrowheads="1"/>
          </p:cNvSpPr>
          <p:nvPr/>
        </p:nvSpPr>
        <p:spPr bwMode="auto">
          <a:xfrm>
            <a:off x="11461970" y="6709048"/>
            <a:ext cx="9829800" cy="1415772"/>
          </a:xfrm>
          <a:prstGeom prst="rect">
            <a:avLst/>
          </a:prstGeom>
          <a:noFill/>
          <a:ln w="9525">
            <a:noFill/>
            <a:miter lim="800000"/>
            <a:headEnd/>
            <a:tailEnd/>
          </a:ln>
          <a:effectLst/>
        </p:spPr>
        <p:txBody>
          <a:bodyPr>
            <a:spAutoFit/>
          </a:bodyPr>
          <a:lstStyle/>
          <a:p>
            <a:pPr defTabSz="4389329">
              <a:spcBef>
                <a:spcPct val="50000"/>
              </a:spcBef>
            </a:pPr>
            <a:r>
              <a:rPr lang="en-US" b="1"/>
              <a:t>Methods</a:t>
            </a:r>
          </a:p>
        </p:txBody>
      </p:sp>
      <p:sp>
        <p:nvSpPr>
          <p:cNvPr id="2087" name="Text Box 39"/>
          <p:cNvSpPr txBox="1">
            <a:spLocks noChangeArrowheads="1"/>
          </p:cNvSpPr>
          <p:nvPr/>
        </p:nvSpPr>
        <p:spPr bwMode="auto">
          <a:xfrm>
            <a:off x="22269671" y="9071248"/>
            <a:ext cx="9766300" cy="5207789"/>
          </a:xfrm>
          <a:prstGeom prst="rect">
            <a:avLst/>
          </a:prstGeom>
          <a:noFill/>
          <a:ln w="57150" cmpd="thinThick">
            <a:noFill/>
            <a:miter lim="800000"/>
            <a:headEnd/>
            <a:tailEnd/>
          </a:ln>
          <a:effectLst/>
        </p:spPr>
        <p:txBody>
          <a:bodyPr lIns="61171" tIns="30584" rIns="61171" bIns="30584">
            <a:spAutoFit/>
          </a:bodyPr>
          <a:lstStyle/>
          <a:p>
            <a:pPr marL="457200" indent="-457200" algn="l" defTabSz="612759" eaLnBrk="0" hangingPunct="0">
              <a:lnSpc>
                <a:spcPct val="95000"/>
              </a:lnSpc>
              <a:buFont typeface="Arial" panose="020B0604020202020204" pitchFamily="34" charset="0"/>
              <a:buChar char="•"/>
            </a:pPr>
            <a:r>
              <a:rPr lang="en-US" sz="3200" b="1" dirty="0">
                <a:latin typeface="Times New Roman" pitchFamily="18" charset="0"/>
              </a:rPr>
              <a:t>Aggregated Metrics (Averaged per 20 Epochs)</a:t>
            </a:r>
          </a:p>
          <a:p>
            <a:pPr marL="457200" indent="-457200" algn="l" defTabSz="612759" eaLnBrk="0" hangingPunct="0">
              <a:lnSpc>
                <a:spcPct val="95000"/>
              </a:lnSpc>
              <a:buFont typeface="Arial" panose="020B0604020202020204" pitchFamily="34" charset="0"/>
              <a:buChar char="•"/>
            </a:pPr>
            <a:endParaRPr lang="en-US" sz="3200" b="1"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b="1"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b="1"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b="1"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dirty="0">
              <a:latin typeface="Times New Roman" pitchFamily="18" charset="0"/>
            </a:endParaRPr>
          </a:p>
          <a:p>
            <a:pPr algn="l" defTabSz="612759" eaLnBrk="0" hangingPunct="0">
              <a:lnSpc>
                <a:spcPct val="95000"/>
              </a:lnSpc>
            </a:pPr>
            <a:endParaRPr lang="en-US" sz="3200"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dirty="0">
              <a:latin typeface="Times New Roman" pitchFamily="18" charset="0"/>
            </a:endParaRPr>
          </a:p>
          <a:p>
            <a:pPr marL="457200" indent="-457200" algn="l" defTabSz="612759" eaLnBrk="0" hangingPunct="0">
              <a:lnSpc>
                <a:spcPct val="95000"/>
              </a:lnSpc>
              <a:buFont typeface="Arial" panose="020B0604020202020204" pitchFamily="34" charset="0"/>
              <a:buChar char="•"/>
            </a:pPr>
            <a:endParaRPr lang="en-US" sz="3200" dirty="0">
              <a:latin typeface="Times New Roman" pitchFamily="18" charset="0"/>
            </a:endParaRPr>
          </a:p>
          <a:p>
            <a:pPr marL="342900" indent="-342900" algn="l" defTabSz="612759" eaLnBrk="0" hangingPunct="0">
              <a:lnSpc>
                <a:spcPct val="95000"/>
              </a:lnSpc>
              <a:buFont typeface="Arial" panose="020B0604020202020204" pitchFamily="34" charset="0"/>
              <a:buChar char="•"/>
            </a:pPr>
            <a:r>
              <a:rPr lang="en-US" sz="3200" b="1" dirty="0">
                <a:latin typeface="Times New Roman" pitchFamily="18" charset="0"/>
              </a:rPr>
              <a:t>Training Metrics Graph</a:t>
            </a:r>
            <a:br>
              <a:rPr lang="en-US" sz="3200" dirty="0">
                <a:latin typeface="Times New Roman" pitchFamily="18" charset="0"/>
              </a:rPr>
            </a:br>
            <a:endParaRPr lang="en-US" sz="3200" dirty="0">
              <a:latin typeface="Times New Roman" pitchFamily="18" charset="0"/>
            </a:endParaRPr>
          </a:p>
        </p:txBody>
      </p:sp>
      <p:sp>
        <p:nvSpPr>
          <p:cNvPr id="20" name="AutoShape 30"/>
          <p:cNvSpPr>
            <a:spLocks noChangeArrowheads="1"/>
          </p:cNvSpPr>
          <p:nvPr/>
        </p:nvSpPr>
        <p:spPr bwMode="auto">
          <a:xfrm>
            <a:off x="489170" y="32805308"/>
            <a:ext cx="31851600" cy="10773451"/>
          </a:xfrm>
          <a:prstGeom prst="roundRect">
            <a:avLst>
              <a:gd name="adj" fmla="val 7000"/>
            </a:avLst>
          </a:prstGeom>
          <a:solidFill>
            <a:schemeClr val="bg1"/>
          </a:solidFill>
          <a:ln w="9525">
            <a:solidFill>
              <a:schemeClr val="tx1"/>
            </a:solidFill>
            <a:round/>
            <a:headEnd/>
            <a:tailEnd/>
          </a:ln>
          <a:effectLst/>
        </p:spPr>
        <p:txBody>
          <a:bodyPr wrap="none" anchor="ctr"/>
          <a:lstStyle/>
          <a:p>
            <a:endParaRPr lang="en-US" dirty="0"/>
          </a:p>
        </p:txBody>
      </p:sp>
      <p:sp>
        <p:nvSpPr>
          <p:cNvPr id="2059" name="Text Box 11"/>
          <p:cNvSpPr txBox="1">
            <a:spLocks noChangeArrowheads="1"/>
          </p:cNvSpPr>
          <p:nvPr/>
        </p:nvSpPr>
        <p:spPr bwMode="auto">
          <a:xfrm>
            <a:off x="1403570" y="33039549"/>
            <a:ext cx="14698434" cy="1415772"/>
          </a:xfrm>
          <a:prstGeom prst="rect">
            <a:avLst/>
          </a:prstGeom>
          <a:noFill/>
          <a:ln w="9525">
            <a:noFill/>
            <a:miter lim="800000"/>
            <a:headEnd/>
            <a:tailEnd/>
          </a:ln>
          <a:effectLst/>
        </p:spPr>
        <p:txBody>
          <a:bodyPr wrap="square">
            <a:spAutoFit/>
          </a:bodyPr>
          <a:lstStyle/>
          <a:p>
            <a:pPr defTabSz="4389329">
              <a:spcBef>
                <a:spcPct val="50000"/>
              </a:spcBef>
            </a:pPr>
            <a:r>
              <a:rPr lang="en-US" b="1" dirty="0"/>
              <a:t>Conclusions/Summary</a:t>
            </a:r>
          </a:p>
        </p:txBody>
      </p:sp>
      <p:sp>
        <p:nvSpPr>
          <p:cNvPr id="2075" name="Text Box 27"/>
          <p:cNvSpPr txBox="1">
            <a:spLocks noChangeArrowheads="1"/>
          </p:cNvSpPr>
          <p:nvPr/>
        </p:nvSpPr>
        <p:spPr bwMode="auto">
          <a:xfrm>
            <a:off x="20068487" y="34005705"/>
            <a:ext cx="8305800" cy="1092607"/>
          </a:xfrm>
          <a:prstGeom prst="rect">
            <a:avLst/>
          </a:prstGeom>
          <a:noFill/>
          <a:ln w="9525">
            <a:noFill/>
            <a:miter lim="800000"/>
            <a:headEnd/>
            <a:tailEnd/>
          </a:ln>
          <a:effectLst/>
        </p:spPr>
        <p:txBody>
          <a:bodyPr>
            <a:spAutoFit/>
          </a:bodyPr>
          <a:lstStyle/>
          <a:p>
            <a:pPr defTabSz="4389329">
              <a:spcBef>
                <a:spcPct val="50000"/>
              </a:spcBef>
            </a:pPr>
            <a:r>
              <a:rPr lang="en-US" sz="6500" dirty="0"/>
              <a:t>References</a:t>
            </a:r>
          </a:p>
        </p:txBody>
      </p:sp>
      <p:sp>
        <p:nvSpPr>
          <p:cNvPr id="2086" name="Text Box 38"/>
          <p:cNvSpPr txBox="1">
            <a:spLocks noChangeArrowheads="1"/>
          </p:cNvSpPr>
          <p:nvPr/>
        </p:nvSpPr>
        <p:spPr bwMode="auto">
          <a:xfrm>
            <a:off x="17322799" y="35091552"/>
            <a:ext cx="14242831" cy="7839279"/>
          </a:xfrm>
          <a:prstGeom prst="rect">
            <a:avLst/>
          </a:prstGeom>
          <a:noFill/>
          <a:ln w="57150" cmpd="thinThick">
            <a:noFill/>
            <a:miter lim="800000"/>
            <a:headEnd/>
            <a:tailEnd/>
          </a:ln>
          <a:effectLst/>
        </p:spPr>
        <p:txBody>
          <a:bodyPr wrap="square" lIns="61171" tIns="30584" rIns="61171" bIns="30584">
            <a:spAutoFit/>
          </a:bodyPr>
          <a:lstStyle/>
          <a:p>
            <a:pPr algn="just" defTabSz="612759" eaLnBrk="0" hangingPunct="0">
              <a:lnSpc>
                <a:spcPct val="95000"/>
              </a:lnSpc>
            </a:pPr>
            <a:endParaRPr lang="en-US" sz="2800" b="1" dirty="0">
              <a:latin typeface="Times New Roman" pitchFamily="18" charset="0"/>
            </a:endParaRPr>
          </a:p>
          <a:p>
            <a:pPr algn="just" defTabSz="612759" eaLnBrk="0" hangingPunct="0">
              <a:lnSpc>
                <a:spcPct val="95000"/>
              </a:lnSpc>
            </a:pPr>
            <a:endParaRPr lang="en-US" sz="2800" b="1" dirty="0">
              <a:latin typeface="Times New Roman" pitchFamily="18" charset="0"/>
            </a:endParaRPr>
          </a:p>
          <a:p>
            <a:pPr marL="342891" indent="-342891" algn="just" defTabSz="612759" eaLnBrk="0" hangingPunct="0">
              <a:lnSpc>
                <a:spcPct val="95000"/>
              </a:lnSpc>
              <a:buFontTx/>
              <a:buAutoNum type="arabicPeriod"/>
            </a:pPr>
            <a:r>
              <a:rPr lang="en-US" sz="2800" b="1" dirty="0">
                <a:latin typeface="Times New Roman" pitchFamily="18" charset="0"/>
              </a:rPr>
              <a:t>L. Mandelli and S. Berretti, Cad 3d model classification by graph neural networks: A new approach based on step format, arXiv.org, Oct. 2022. Accessed: Oct. 13, 2025. [Online]. Available: https://arxiv.org/abs/2210.16815.</a:t>
            </a:r>
          </a:p>
          <a:p>
            <a:pPr marL="342891" indent="-342891" algn="just" defTabSz="612759" eaLnBrk="0" hangingPunct="0">
              <a:lnSpc>
                <a:spcPct val="95000"/>
              </a:lnSpc>
              <a:buFontTx/>
              <a:buAutoNum type="arabicPeriod"/>
            </a:pPr>
            <a:r>
              <a:rPr lang="en-US" sz="2800" b="1" dirty="0">
                <a:latin typeface="Times New Roman" pitchFamily="18" charset="0"/>
              </a:rPr>
              <a:t>M. S. Khan, S. Sinha, T. U. Sheikh, D. Stricker, S. A. Ali, and M. Z. Afzal, “Text2cad: Generating sequential cad models from beginner-to-expert level text prompts,” arXiv.org, Sep. 2024. DOI: https://doi.org/10.48550/arXiv.2409.17106. Accessed: Dec. 8, 2025. [Online]. Available: https://arxiv.org/abs/2409.17106v1 </a:t>
            </a:r>
          </a:p>
          <a:p>
            <a:pPr marL="342891" indent="-342891" algn="just" defTabSz="612759" eaLnBrk="0" hangingPunct="0">
              <a:lnSpc>
                <a:spcPct val="95000"/>
              </a:lnSpc>
              <a:buFontTx/>
              <a:buAutoNum type="arabicPeriod"/>
            </a:pPr>
            <a:r>
              <a:rPr lang="en-US" sz="2800" b="1" dirty="0">
                <a:latin typeface="Times New Roman" pitchFamily="18" charset="0"/>
              </a:rPr>
              <a:t> J. </a:t>
            </a:r>
            <a:r>
              <a:rPr lang="en-US" sz="2800" b="1" dirty="0" err="1">
                <a:latin typeface="Times New Roman" pitchFamily="18" charset="0"/>
              </a:rPr>
              <a:t>Su</a:t>
            </a:r>
            <a:r>
              <a:rPr lang="en-US" sz="2800" b="1" dirty="0">
                <a:latin typeface="Times New Roman" pitchFamily="18" charset="0"/>
              </a:rPr>
              <a:t>, Y. Lu, S. Pan, B. Wen, and Y. Liu, “</a:t>
            </a:r>
            <a:r>
              <a:rPr lang="en-US" sz="2800" b="1" dirty="0" err="1">
                <a:latin typeface="Times New Roman" pitchFamily="18" charset="0"/>
              </a:rPr>
              <a:t>Roformer</a:t>
            </a:r>
            <a:r>
              <a:rPr lang="en-US" sz="2800" b="1" dirty="0">
                <a:latin typeface="Times New Roman" pitchFamily="18" charset="0"/>
              </a:rPr>
              <a:t>: Enhanced transformer with rotary position embedding,” </a:t>
            </a:r>
            <a:r>
              <a:rPr lang="en-US" sz="2800" b="1" dirty="0" err="1">
                <a:latin typeface="Times New Roman" pitchFamily="18" charset="0"/>
              </a:rPr>
              <a:t>CoRR</a:t>
            </a:r>
            <a:r>
              <a:rPr lang="en-US" sz="2800" b="1" dirty="0">
                <a:latin typeface="Times New Roman" pitchFamily="18" charset="0"/>
              </a:rPr>
              <a:t>, vol. abs/2104.09864, Nov. 2023. DOI: https://doi.org/10.48550/arXiv.2104.09864. [Online]. Available: https://arxiv.org/abs/2104.09864.</a:t>
            </a:r>
          </a:p>
          <a:p>
            <a:pPr marL="342891" indent="-342891" algn="just" defTabSz="612759" eaLnBrk="0" hangingPunct="0">
              <a:lnSpc>
                <a:spcPct val="95000"/>
              </a:lnSpc>
              <a:buFont typeface="Symbol" pitchFamily="18" charset="2"/>
              <a:buAutoNum type="arabicPeriod"/>
            </a:pPr>
            <a:r>
              <a:rPr lang="en-US" sz="2800" b="1" dirty="0">
                <a:latin typeface="Times New Roman" pitchFamily="18" charset="0"/>
              </a:rPr>
              <a:t>C.-Y. Lin, Rouge: A package for automatic evaluation of summaries, Jul. 2004. Accessed: Dec. 8, 2025. [Online]. Available: https://aclanthology.org/W04-1013.pdf.</a:t>
            </a:r>
          </a:p>
          <a:p>
            <a:pPr marL="342891" indent="-342891" algn="just" defTabSz="612759" eaLnBrk="0" hangingPunct="0">
              <a:lnSpc>
                <a:spcPct val="95000"/>
              </a:lnSpc>
              <a:buFontTx/>
              <a:buAutoNum type="arabicPeriod"/>
            </a:pPr>
            <a:r>
              <a:rPr lang="en-US" sz="2800" b="1" dirty="0">
                <a:latin typeface="Times New Roman" pitchFamily="18" charset="0"/>
              </a:rPr>
              <a:t>T. Zhang, V. Kishore, F. Wu, K. Q. Weinberger, and Y. </a:t>
            </a:r>
            <a:r>
              <a:rPr lang="en-US" sz="2800" b="1" dirty="0" err="1">
                <a:latin typeface="Times New Roman" pitchFamily="18" charset="0"/>
              </a:rPr>
              <a:t>Artzi</a:t>
            </a:r>
            <a:r>
              <a:rPr lang="en-US" sz="2800" b="1" dirty="0">
                <a:latin typeface="Times New Roman" pitchFamily="18" charset="0"/>
              </a:rPr>
              <a:t>, “</a:t>
            </a:r>
            <a:r>
              <a:rPr lang="en-US" sz="2800" b="1" dirty="0" err="1">
                <a:latin typeface="Times New Roman" pitchFamily="18" charset="0"/>
              </a:rPr>
              <a:t>Bertscore</a:t>
            </a:r>
            <a:r>
              <a:rPr lang="en-US" sz="2800" b="1" dirty="0">
                <a:latin typeface="Times New Roman" pitchFamily="18" charset="0"/>
              </a:rPr>
              <a:t>: Evaluating text generation with </a:t>
            </a:r>
            <a:r>
              <a:rPr lang="en-US" sz="2800" b="1" dirty="0" err="1">
                <a:latin typeface="Times New Roman" pitchFamily="18" charset="0"/>
              </a:rPr>
              <a:t>bert</a:t>
            </a:r>
            <a:r>
              <a:rPr lang="en-US" sz="2800" b="1" dirty="0">
                <a:latin typeface="Times New Roman" pitchFamily="18" charset="0"/>
              </a:rPr>
              <a:t>,” </a:t>
            </a:r>
            <a:r>
              <a:rPr lang="en-US" sz="2800" b="1" dirty="0" err="1">
                <a:latin typeface="Times New Roman" pitchFamily="18" charset="0"/>
              </a:rPr>
              <a:t>CoRR</a:t>
            </a:r>
            <a:r>
              <a:rPr lang="en-US" sz="2800" b="1" dirty="0">
                <a:latin typeface="Times New Roman" pitchFamily="18" charset="0"/>
              </a:rPr>
              <a:t>, vol. abs/1904.09675, Feb. 2020. DOI: https://doi.org/10.48550/arXiv.1904.09675. Accessed: Dec. 9, 2025. [Online]. Available: http://arxiv.org/abs/1904.09675.</a:t>
            </a:r>
          </a:p>
        </p:txBody>
      </p:sp>
      <p:sp>
        <p:nvSpPr>
          <p:cNvPr id="2088" name="Text Box 40"/>
          <p:cNvSpPr txBox="1">
            <a:spLocks noChangeArrowheads="1"/>
          </p:cNvSpPr>
          <p:nvPr/>
        </p:nvSpPr>
        <p:spPr bwMode="auto">
          <a:xfrm>
            <a:off x="1352770" y="35438266"/>
            <a:ext cx="15106429" cy="7839279"/>
          </a:xfrm>
          <a:prstGeom prst="rect">
            <a:avLst/>
          </a:prstGeom>
          <a:noFill/>
          <a:ln w="57150" cmpd="thinThick">
            <a:noFill/>
            <a:miter lim="800000"/>
            <a:headEnd/>
            <a:tailEnd/>
          </a:ln>
          <a:effectLst/>
        </p:spPr>
        <p:txBody>
          <a:bodyPr wrap="square" lIns="61171" tIns="30584" rIns="61171" bIns="30584">
            <a:spAutoFit/>
          </a:bodyPr>
          <a:lstStyle/>
          <a:p>
            <a:pPr algn="just" defTabSz="612759" eaLnBrk="0" hangingPunct="0">
              <a:lnSpc>
                <a:spcPct val="95000"/>
              </a:lnSpc>
            </a:pPr>
            <a:r>
              <a:rPr lang="en-US" sz="2800" dirty="0">
                <a:latin typeface="Times New Roman" pitchFamily="18" charset="0"/>
              </a:rPr>
              <a:t>	This research demonstrates that the strategic integration of a novel Hierarchical Dual-Stream Tokenizer with a quantized Generative Pre-trained Transformer (GPT) creates a robust framework for an automated, reconstruction-free annotation of Computer-Aided Design (CAD) files. The proposed architecture is capable of natively processing the raw topology and geometric primitives contained in B-Rep data without the need to utilize external metadata or converting them into lossy visual formats. Furthermore, the application of PEFT through </a:t>
            </a:r>
            <a:r>
              <a:rPr lang="en-US" sz="2800" dirty="0" err="1">
                <a:latin typeface="Times New Roman" pitchFamily="18" charset="0"/>
              </a:rPr>
              <a:t>LoRA</a:t>
            </a:r>
            <a:r>
              <a:rPr lang="en-US" sz="2800" dirty="0">
                <a:latin typeface="Times New Roman" pitchFamily="18" charset="0"/>
              </a:rPr>
              <a:t> provided the necessary requirement of handling semantic and geometric tokens generated from the tokenizer. </a:t>
            </a:r>
          </a:p>
          <a:p>
            <a:pPr algn="just" defTabSz="612759" eaLnBrk="0" hangingPunct="0">
              <a:lnSpc>
                <a:spcPct val="95000"/>
              </a:lnSpc>
            </a:pPr>
            <a:r>
              <a:rPr lang="en-US" sz="2800" dirty="0">
                <a:latin typeface="Times New Roman" pitchFamily="18" charset="0"/>
              </a:rPr>
              <a:t>	The proposed model was able to translate B-Rep data into semantic-geometric tokens while entirely preserving the foundational grammatical syntax and reasoning capabilities of the frozen GPT2 backbone. The findings provide compelling evidence that smaller language models, when equipped with specialized topological tokenization, possess the intrinsic capability to directly interpret, analyze, and accurately categorize complex mechanical geometry for real-world industrial and manufacturing workflows. </a:t>
            </a:r>
          </a:p>
          <a:p>
            <a:pPr algn="just" defTabSz="612759" eaLnBrk="0" hangingPunct="0">
              <a:lnSpc>
                <a:spcPct val="95000"/>
              </a:lnSpc>
            </a:pPr>
            <a:r>
              <a:rPr lang="en-US" sz="2800" dirty="0">
                <a:latin typeface="Times New Roman" pitchFamily="18" charset="0"/>
              </a:rPr>
              <a:t>	Future iterations of this research will focus on scaling the core architecture by transitioning to larger pre-trained foundational models. Utilizing models with higher parameter counts will expand the network's latent capacity, theoretically improving its zero-shot geometric reasoning and reducing the syntactic volatility observed in exact-match metrics. Additionally, increasing the maximum token output size will be a priority. Expanding the generation window will allow the system to output comprehensive, multi-level parametric specifications for massive, multi-part industrial assemblies without suffering from sequence truncation or degradation.</a:t>
            </a:r>
          </a:p>
        </p:txBody>
      </p:sp>
      <p:sp>
        <p:nvSpPr>
          <p:cNvPr id="2090" name="Text Box 42"/>
          <p:cNvSpPr txBox="1">
            <a:spLocks noChangeArrowheads="1"/>
          </p:cNvSpPr>
          <p:nvPr/>
        </p:nvSpPr>
        <p:spPr bwMode="auto">
          <a:xfrm>
            <a:off x="717770" y="6709048"/>
            <a:ext cx="9829800" cy="1415772"/>
          </a:xfrm>
          <a:prstGeom prst="rect">
            <a:avLst/>
          </a:prstGeom>
          <a:noFill/>
          <a:ln w="9525">
            <a:noFill/>
            <a:miter lim="800000"/>
            <a:headEnd/>
            <a:tailEnd/>
          </a:ln>
          <a:effectLst/>
        </p:spPr>
        <p:txBody>
          <a:bodyPr>
            <a:spAutoFit/>
          </a:bodyPr>
          <a:lstStyle/>
          <a:p>
            <a:pPr defTabSz="4389329">
              <a:spcBef>
                <a:spcPct val="50000"/>
              </a:spcBef>
            </a:pPr>
            <a:r>
              <a:rPr lang="en-US" b="1" dirty="0"/>
              <a:t>Abstract </a:t>
            </a:r>
          </a:p>
        </p:txBody>
      </p:sp>
      <p:sp>
        <p:nvSpPr>
          <p:cNvPr id="2091" name="Text Box 43"/>
          <p:cNvSpPr txBox="1">
            <a:spLocks noChangeArrowheads="1"/>
          </p:cNvSpPr>
          <p:nvPr/>
        </p:nvSpPr>
        <p:spPr bwMode="auto">
          <a:xfrm>
            <a:off x="22206170" y="6720162"/>
            <a:ext cx="9829800" cy="1415772"/>
          </a:xfrm>
          <a:prstGeom prst="rect">
            <a:avLst/>
          </a:prstGeom>
          <a:noFill/>
          <a:ln w="9525">
            <a:noFill/>
            <a:miter lim="800000"/>
            <a:headEnd/>
            <a:tailEnd/>
          </a:ln>
          <a:effectLst/>
        </p:spPr>
        <p:txBody>
          <a:bodyPr>
            <a:spAutoFit/>
          </a:bodyPr>
          <a:lstStyle/>
          <a:p>
            <a:pPr defTabSz="4389329">
              <a:spcBef>
                <a:spcPct val="50000"/>
              </a:spcBef>
            </a:pPr>
            <a:r>
              <a:rPr lang="en-US" b="1" dirty="0"/>
              <a:t>Findings/Results</a:t>
            </a:r>
          </a:p>
        </p:txBody>
      </p:sp>
      <p:sp>
        <p:nvSpPr>
          <p:cNvPr id="2061" name="AutoShape 13"/>
          <p:cNvSpPr>
            <a:spLocks noChangeArrowheads="1"/>
          </p:cNvSpPr>
          <p:nvPr/>
        </p:nvSpPr>
        <p:spPr bwMode="auto">
          <a:xfrm>
            <a:off x="0" y="312441"/>
            <a:ext cx="32918400" cy="5257800"/>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p:spPr>
        <p:txBody>
          <a:bodyPr wrap="none" anchor="ctr"/>
          <a:lstStyle/>
          <a:p>
            <a:pPr defTabSz="4389329"/>
            <a:endParaRPr lang="en-US">
              <a:solidFill>
                <a:schemeClr val="bg1"/>
              </a:solidFill>
            </a:endParaRPr>
          </a:p>
        </p:txBody>
      </p:sp>
      <p:sp>
        <p:nvSpPr>
          <p:cNvPr id="2062" name="Text Box 14"/>
          <p:cNvSpPr txBox="1">
            <a:spLocks noChangeArrowheads="1"/>
          </p:cNvSpPr>
          <p:nvPr/>
        </p:nvSpPr>
        <p:spPr bwMode="auto">
          <a:xfrm>
            <a:off x="7065706" y="726103"/>
            <a:ext cx="25733478" cy="4401205"/>
          </a:xfrm>
          <a:prstGeom prst="rect">
            <a:avLst/>
          </a:prstGeom>
          <a:noFill/>
          <a:ln w="9525">
            <a:noFill/>
            <a:miter lim="800000"/>
            <a:headEnd/>
            <a:tailEnd/>
          </a:ln>
          <a:effectLst/>
        </p:spPr>
        <p:txBody>
          <a:bodyPr wrap="square">
            <a:spAutoFit/>
          </a:bodyPr>
          <a:lstStyle/>
          <a:p>
            <a:pPr defTabSz="4389329">
              <a:spcBef>
                <a:spcPct val="50000"/>
              </a:spcBef>
            </a:pPr>
            <a:r>
              <a:rPr lang="en-US" sz="8000" b="1" dirty="0"/>
              <a:t>STEP File Tokenizer for Transformer-based Annotation</a:t>
            </a:r>
          </a:p>
          <a:p>
            <a:pPr defTabSz="4389329"/>
            <a:r>
              <a:rPr lang="en-US" sz="6000" dirty="0"/>
              <a:t>Panji </a:t>
            </a:r>
            <a:r>
              <a:rPr lang="en-US" sz="6000" dirty="0" err="1"/>
              <a:t>Darma</a:t>
            </a:r>
            <a:r>
              <a:rPr lang="en-US" sz="6000" dirty="0"/>
              <a:t>, Hans Sebastian</a:t>
            </a:r>
            <a:br>
              <a:rPr lang="en-US" sz="6000" dirty="0"/>
            </a:br>
            <a:r>
              <a:rPr lang="en-US" sz="6000" dirty="0"/>
              <a:t>Faculty of Engineering and Technology</a:t>
            </a:r>
          </a:p>
        </p:txBody>
      </p:sp>
      <p:sp>
        <p:nvSpPr>
          <p:cNvPr id="2064" name="Text Box 16"/>
          <p:cNvSpPr txBox="1">
            <a:spLocks noChangeArrowheads="1"/>
          </p:cNvSpPr>
          <p:nvPr/>
        </p:nvSpPr>
        <p:spPr bwMode="auto">
          <a:xfrm>
            <a:off x="0" y="2141243"/>
            <a:ext cx="2831690" cy="2062103"/>
          </a:xfrm>
          <a:prstGeom prst="rect">
            <a:avLst/>
          </a:prstGeom>
          <a:noFill/>
          <a:ln w="9525">
            <a:noFill/>
            <a:miter lim="800000"/>
            <a:headEnd/>
            <a:tailEnd/>
          </a:ln>
          <a:effectLst/>
        </p:spPr>
        <p:txBody>
          <a:bodyPr>
            <a:spAutoFit/>
          </a:bodyPr>
          <a:lstStyle/>
          <a:p>
            <a:pPr defTabSz="4389329">
              <a:spcBef>
                <a:spcPct val="50000"/>
              </a:spcBef>
            </a:pPr>
            <a:endParaRPr lang="en-US" b="1" dirty="0">
              <a:highlight>
                <a:srgbClr val="FFFF00"/>
              </a:highlight>
            </a:endParaRPr>
          </a:p>
          <a:p>
            <a:pPr defTabSz="4389329">
              <a:spcBef>
                <a:spcPct val="50000"/>
              </a:spcBef>
            </a:pPr>
            <a:endParaRPr lang="en-US" sz="2800" dirty="0">
              <a:solidFill>
                <a:srgbClr val="FF0000"/>
              </a:solidFill>
            </a:endParaRPr>
          </a:p>
        </p:txBody>
      </p:sp>
      <p:sp>
        <p:nvSpPr>
          <p:cNvPr id="2097" name="Text Box 49"/>
          <p:cNvSpPr txBox="1">
            <a:spLocks noChangeArrowheads="1"/>
          </p:cNvSpPr>
          <p:nvPr/>
        </p:nvSpPr>
        <p:spPr bwMode="auto">
          <a:xfrm>
            <a:off x="29967494" y="2169817"/>
            <a:ext cx="2831690" cy="2062103"/>
          </a:xfrm>
          <a:prstGeom prst="rect">
            <a:avLst/>
          </a:prstGeom>
          <a:noFill/>
          <a:ln w="9525">
            <a:noFill/>
            <a:miter lim="800000"/>
            <a:headEnd/>
            <a:tailEnd/>
          </a:ln>
          <a:effectLst/>
        </p:spPr>
        <p:txBody>
          <a:bodyPr>
            <a:spAutoFit/>
          </a:bodyPr>
          <a:lstStyle/>
          <a:p>
            <a:pPr defTabSz="4389329">
              <a:spcBef>
                <a:spcPct val="50000"/>
              </a:spcBef>
            </a:pPr>
            <a:endParaRPr lang="en-US" b="1" dirty="0">
              <a:highlight>
                <a:srgbClr val="FFFF00"/>
              </a:highlight>
            </a:endParaRPr>
          </a:p>
          <a:p>
            <a:pPr defTabSz="4389329">
              <a:spcBef>
                <a:spcPct val="50000"/>
              </a:spcBef>
            </a:pPr>
            <a:endParaRPr lang="en-US" sz="2800" dirty="0">
              <a:solidFill>
                <a:srgbClr val="FF0000"/>
              </a:solidFill>
            </a:endParaRPr>
          </a:p>
        </p:txBody>
      </p:sp>
      <p:pic>
        <p:nvPicPr>
          <p:cNvPr id="29" name="Picture 28">
            <a:extLst>
              <a:ext uri="{FF2B5EF4-FFF2-40B4-BE49-F238E27FC236}">
                <a16:creationId xmlns:a16="http://schemas.microsoft.com/office/drawing/2014/main" id="{3B3F8BE5-3ADD-465C-9156-10C73CFD11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80437" y="1067411"/>
            <a:ext cx="7775733" cy="3355635"/>
          </a:xfrm>
          <a:prstGeom prst="rect">
            <a:avLst/>
          </a:prstGeom>
        </p:spPr>
      </p:pic>
      <p:sp>
        <p:nvSpPr>
          <p:cNvPr id="30" name="Text Box 39">
            <a:extLst>
              <a:ext uri="{FF2B5EF4-FFF2-40B4-BE49-F238E27FC236}">
                <a16:creationId xmlns:a16="http://schemas.microsoft.com/office/drawing/2014/main" id="{8A0DE85B-CFD1-4702-B730-917A031A435B}"/>
              </a:ext>
            </a:extLst>
          </p:cNvPr>
          <p:cNvSpPr txBox="1">
            <a:spLocks noChangeArrowheads="1"/>
          </p:cNvSpPr>
          <p:nvPr/>
        </p:nvSpPr>
        <p:spPr bwMode="auto">
          <a:xfrm>
            <a:off x="11677871" y="9114112"/>
            <a:ext cx="9766300" cy="18072850"/>
          </a:xfrm>
          <a:prstGeom prst="rect">
            <a:avLst/>
          </a:prstGeom>
          <a:noFill/>
          <a:ln w="57150" cmpd="thinThick">
            <a:noFill/>
            <a:miter lim="800000"/>
            <a:headEnd/>
            <a:tailEnd/>
          </a:ln>
          <a:effectLst/>
        </p:spPr>
        <p:txBody>
          <a:bodyPr lIns="61171" tIns="30584" rIns="61171" bIns="30584">
            <a:spAutoFit/>
          </a:bodyPr>
          <a:lstStyle/>
          <a:p>
            <a:pPr algn="just" defTabSz="612759" eaLnBrk="0" hangingPunct="0">
              <a:lnSpc>
                <a:spcPct val="95000"/>
              </a:lnSpc>
            </a:pPr>
            <a:r>
              <a:rPr lang="en-US" sz="2800" dirty="0">
                <a:latin typeface="Times New Roman" pitchFamily="18" charset="0"/>
              </a:rPr>
              <a:t>This paper utilizes a Geometric-Semantic Adapter system with a Transformer base for annotating CAD geometry using a dual-stream Tokenizer architecture. The procedure includes the following steps:</a:t>
            </a: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algn="l" defTabSz="612759" eaLnBrk="0" hangingPunct="0">
              <a:lnSpc>
                <a:spcPct val="95000"/>
              </a:lnSpc>
            </a:pPr>
            <a:endParaRPr lang="en-US" sz="2800" dirty="0">
              <a:latin typeface="Times New Roman" pitchFamily="18" charset="0"/>
            </a:endParaRPr>
          </a:p>
          <a:p>
            <a:pPr marL="514350" indent="-514350" algn="just" defTabSz="612759" eaLnBrk="0" hangingPunct="0">
              <a:lnSpc>
                <a:spcPct val="95000"/>
              </a:lnSpc>
              <a:buAutoNum type="arabicPeriod"/>
            </a:pPr>
            <a:r>
              <a:rPr lang="en-US" sz="2800" b="1" dirty="0">
                <a:latin typeface="Times New Roman" pitchFamily="18" charset="0"/>
              </a:rPr>
              <a:t>Data Preparation:</a:t>
            </a:r>
          </a:p>
          <a:p>
            <a:pPr algn="just" defTabSz="612759" eaLnBrk="0" hangingPunct="0">
              <a:lnSpc>
                <a:spcPct val="95000"/>
              </a:lnSpc>
            </a:pPr>
            <a:r>
              <a:rPr lang="en-US" sz="2800" dirty="0">
                <a:latin typeface="Times New Roman" pitchFamily="18" charset="0"/>
              </a:rPr>
              <a:t>A hybrid dataset was constructed using specific samples of the ABC dataset consisting of labeled geometric topologies and semantic descriptions based on Text2CAD annotation [2]. The dataset contains 100 high-fidelity STEP CAD files validated by humans for manifold integrity and proper annotation.</a:t>
            </a:r>
          </a:p>
          <a:p>
            <a:pPr marL="514350" indent="-514350" algn="just" defTabSz="612759" eaLnBrk="0" hangingPunct="0">
              <a:lnSpc>
                <a:spcPct val="95000"/>
              </a:lnSpc>
              <a:buFont typeface="+mj-lt"/>
              <a:buAutoNum type="arabicPeriod" startAt="2"/>
            </a:pPr>
            <a:r>
              <a:rPr lang="en-US" sz="2800" b="1" dirty="0">
                <a:latin typeface="Times New Roman" pitchFamily="18" charset="0"/>
              </a:rPr>
              <a:t>Feature Extraction &amp; Preprocessing:</a:t>
            </a:r>
          </a:p>
          <a:p>
            <a:pPr algn="just" defTabSz="612759" eaLnBrk="0" hangingPunct="0">
              <a:lnSpc>
                <a:spcPct val="95000"/>
              </a:lnSpc>
            </a:pPr>
            <a:r>
              <a:rPr lang="en-US" sz="2800" dirty="0">
                <a:latin typeface="Times New Roman" pitchFamily="18" charset="0"/>
              </a:rPr>
              <a:t>Using a Hierarchical Dual-Stream Tokenizer, topological features were extracted from the B-Rep graphs. The data was simplified via Semantic Macro-Compression, aligned to a canonical Z-axis using Principal Component Analysis (PCA), and serialized using Topological Linearization (Canonical DFS). Additionally, the geometric data is extracted and combined using </a:t>
            </a:r>
            <a:r>
              <a:rPr lang="en-US" sz="2800" dirty="0" err="1">
                <a:latin typeface="Times New Roman" pitchFamily="18" charset="0"/>
              </a:rPr>
              <a:t>Rotationary</a:t>
            </a:r>
            <a:r>
              <a:rPr lang="en-US" sz="2800" dirty="0">
                <a:latin typeface="Times New Roman" pitchFamily="18" charset="0"/>
              </a:rPr>
              <a:t> Positional Embeddings (</a:t>
            </a:r>
            <a:r>
              <a:rPr lang="en-US" sz="2800" dirty="0" err="1">
                <a:latin typeface="Times New Roman" pitchFamily="18" charset="0"/>
              </a:rPr>
              <a:t>RoPE</a:t>
            </a:r>
            <a:r>
              <a:rPr lang="en-US" sz="2800" dirty="0">
                <a:latin typeface="Times New Roman" pitchFamily="18" charset="0"/>
              </a:rPr>
              <a:t>) to ensure the attention mechanism correctly measures angular offsets, embedding physical assembly logic directly into the network. [3].</a:t>
            </a:r>
          </a:p>
          <a:p>
            <a:pPr marL="514350" indent="-514350" algn="just" defTabSz="612759" eaLnBrk="0" hangingPunct="0">
              <a:lnSpc>
                <a:spcPct val="95000"/>
              </a:lnSpc>
              <a:buFont typeface="+mj-lt"/>
              <a:buAutoNum type="arabicPeriod" startAt="3"/>
            </a:pPr>
            <a:r>
              <a:rPr lang="en-US" sz="2800" b="1" dirty="0">
                <a:latin typeface="Times New Roman" pitchFamily="18" charset="0"/>
              </a:rPr>
              <a:t>Model Development: </a:t>
            </a:r>
          </a:p>
          <a:p>
            <a:pPr algn="just" defTabSz="612759" eaLnBrk="0" hangingPunct="0">
              <a:lnSpc>
                <a:spcPct val="95000"/>
              </a:lnSpc>
            </a:pPr>
            <a:r>
              <a:rPr lang="en-US" sz="2800" dirty="0">
                <a:latin typeface="Times New Roman" pitchFamily="18" charset="0"/>
              </a:rPr>
              <a:t>A Geometric-Semantic Adapter model was trained using a Generative Pre-trained Transformer (GPT) backbone. Parameter-Efficient Fine Tuning (PEFT) via Low-Rank Adaptation (</a:t>
            </a:r>
            <a:r>
              <a:rPr lang="en-US" sz="2800" dirty="0" err="1">
                <a:latin typeface="Times New Roman" pitchFamily="18" charset="0"/>
              </a:rPr>
              <a:t>LoRA</a:t>
            </a:r>
            <a:r>
              <a:rPr lang="en-US" sz="2800" dirty="0">
                <a:latin typeface="Times New Roman" pitchFamily="18" charset="0"/>
              </a:rPr>
              <a:t>) was utilized to adapt the attention and feed-forward layers of the backbone while freezing the other components of the base model.</a:t>
            </a:r>
          </a:p>
          <a:p>
            <a:pPr marL="514350" indent="-514350" algn="just" defTabSz="612759" eaLnBrk="0" hangingPunct="0">
              <a:lnSpc>
                <a:spcPct val="95000"/>
              </a:lnSpc>
              <a:buFont typeface="+mj-lt"/>
              <a:buAutoNum type="arabicPeriod" startAt="4"/>
            </a:pPr>
            <a:r>
              <a:rPr lang="en-US" sz="2800" b="1" dirty="0">
                <a:latin typeface="Times New Roman" pitchFamily="18" charset="0"/>
              </a:rPr>
              <a:t>Evaluation Metrics:</a:t>
            </a:r>
          </a:p>
          <a:p>
            <a:pPr algn="just" defTabSz="612759" eaLnBrk="0" hangingPunct="0">
              <a:lnSpc>
                <a:spcPct val="95000"/>
              </a:lnSpc>
            </a:pPr>
            <a:r>
              <a:rPr lang="en-US" sz="2800" dirty="0">
                <a:latin typeface="Times New Roman" pitchFamily="18" charset="0"/>
              </a:rPr>
              <a:t>The performance of the Geometric-Semantic Adapter model is measured using the following metrics:</a:t>
            </a:r>
          </a:p>
        </p:txBody>
      </p:sp>
      <p:sp>
        <p:nvSpPr>
          <p:cNvPr id="31" name="Text Box 39">
            <a:extLst>
              <a:ext uri="{FF2B5EF4-FFF2-40B4-BE49-F238E27FC236}">
                <a16:creationId xmlns:a16="http://schemas.microsoft.com/office/drawing/2014/main" id="{66E5C679-098E-47CE-ACB9-C69FC0A95A22}"/>
              </a:ext>
            </a:extLst>
          </p:cNvPr>
          <p:cNvSpPr txBox="1">
            <a:spLocks noChangeArrowheads="1"/>
          </p:cNvSpPr>
          <p:nvPr/>
        </p:nvSpPr>
        <p:spPr bwMode="auto">
          <a:xfrm>
            <a:off x="908271" y="9128424"/>
            <a:ext cx="9766300" cy="10704679"/>
          </a:xfrm>
          <a:prstGeom prst="rect">
            <a:avLst/>
          </a:prstGeom>
          <a:noFill/>
          <a:ln w="57150" cmpd="thinThick">
            <a:noFill/>
            <a:miter lim="800000"/>
            <a:headEnd/>
            <a:tailEnd/>
          </a:ln>
          <a:effectLst/>
        </p:spPr>
        <p:txBody>
          <a:bodyPr lIns="61171" tIns="30584" rIns="61171" bIns="30584">
            <a:spAutoFit/>
          </a:bodyPr>
          <a:lstStyle/>
          <a:p>
            <a:pPr algn="just" defTabSz="612759" eaLnBrk="0" hangingPunct="0">
              <a:lnSpc>
                <a:spcPct val="95000"/>
              </a:lnSpc>
            </a:pPr>
            <a:r>
              <a:rPr lang="en-US" sz="2800" dirty="0">
                <a:latin typeface="Times New Roman" pitchFamily="18" charset="0"/>
              </a:rPr>
              <a:t>	This study proposes a novel Transformer-based architecture for the direct classification and annotation of raw Boundary Representation (B-Rep) STEP files. A pre-trained GPT2 transformer model is equipped with additional specialized tokens according to ISO 10303 STEP file format to natively parse the complex topological graph structure of Boundary Representation (B-Rep) models into a discrete sequence of tokens. Parameter-efficient Fine Tuning (PEFT) via Low-Rank Adaptation (</a:t>
            </a:r>
            <a:r>
              <a:rPr lang="en-US" sz="2800" dirty="0" err="1">
                <a:latin typeface="Times New Roman" pitchFamily="18" charset="0"/>
              </a:rPr>
              <a:t>LoRA</a:t>
            </a:r>
            <a:r>
              <a:rPr lang="en-US" sz="2800" dirty="0">
                <a:latin typeface="Times New Roman" pitchFamily="18" charset="0"/>
              </a:rPr>
              <a:t>) are implemented to enable it to map continuous geometric vectors into English semantic descriptions without removing learned grammar and syntax rules. A modified version of the ABC dataset which are embedded with AI-based annotations generated using Gemini 3.1 Pro and verified by human reviewers is used to train the model. Preprocessing steps includes file filtering based on size in megabytes (MB) to ensure proper training. A Hierarchical Dual-Stream Tokenizer is employed to resolve graph isomorphism through Semantic Macro-Compression, Canonical Normalization, and Topological Linearization. A Dual-Stream Encoding strategy fuses discrete semantic tokens with complex-valued geometric embeddings via Geometry-Infused Attention and Rotary Positional Embeddings (ROPE) [2]. Model performance is evaluated using </a:t>
            </a:r>
            <a:r>
              <a:rPr lang="en-US" sz="2800" dirty="0" err="1">
                <a:latin typeface="Times New Roman" pitchFamily="18" charset="0"/>
              </a:rPr>
              <a:t>BERTScore</a:t>
            </a:r>
            <a:r>
              <a:rPr lang="en-US" sz="2800" dirty="0">
                <a:latin typeface="Times New Roman" pitchFamily="18" charset="0"/>
              </a:rPr>
              <a:t>, BLEU-4, ROUGE-L, and cross-entropy loss, with a focus on maximizing semantic similarity to avoid undetected functional categories. The results highlight the comparative strengths and limitations of the model, providing insights into its suitability for scalable and reconstruction-free CAD indexing.</a:t>
            </a:r>
            <a:endParaRPr lang="en-US" sz="2000" dirty="0">
              <a:latin typeface="Times New Roman" pitchFamily="18" charset="0"/>
            </a:endParaRPr>
          </a:p>
        </p:txBody>
      </p:sp>
      <p:sp>
        <p:nvSpPr>
          <p:cNvPr id="32" name="Text Box 39">
            <a:extLst>
              <a:ext uri="{FF2B5EF4-FFF2-40B4-BE49-F238E27FC236}">
                <a16:creationId xmlns:a16="http://schemas.microsoft.com/office/drawing/2014/main" id="{E21E3F11-860A-4627-AD2D-A66412C824FF}"/>
              </a:ext>
            </a:extLst>
          </p:cNvPr>
          <p:cNvSpPr txBox="1">
            <a:spLocks noChangeArrowheads="1"/>
          </p:cNvSpPr>
          <p:nvPr/>
        </p:nvSpPr>
        <p:spPr bwMode="auto">
          <a:xfrm>
            <a:off x="908271" y="22406248"/>
            <a:ext cx="9766300" cy="9476650"/>
          </a:xfrm>
          <a:prstGeom prst="rect">
            <a:avLst/>
          </a:prstGeom>
          <a:noFill/>
          <a:ln w="57150" cmpd="thinThick">
            <a:noFill/>
            <a:miter lim="800000"/>
            <a:headEnd/>
            <a:tailEnd/>
          </a:ln>
          <a:effectLst/>
        </p:spPr>
        <p:txBody>
          <a:bodyPr lIns="61171" tIns="30584" rIns="61171" bIns="30584">
            <a:spAutoFit/>
          </a:bodyPr>
          <a:lstStyle/>
          <a:p>
            <a:pPr algn="just" defTabSz="612759" eaLnBrk="0" hangingPunct="0">
              <a:lnSpc>
                <a:spcPct val="95000"/>
              </a:lnSpc>
            </a:pPr>
            <a:r>
              <a:rPr lang="en-US" sz="2800" dirty="0">
                <a:latin typeface="Times New Roman" pitchFamily="18" charset="0"/>
              </a:rPr>
              <a:t>	The use of computers in engineering designs have largely replaced manual, hand-drawn design methods such as blueprints and whiteprints which are time-consuming and doesn’t allow for quick iterations. However, managing large amounts of computer-aided designs (CAD) assets is currently hindered by a reliance on time-consuming manual annotation, which is prone to human error. </a:t>
            </a:r>
          </a:p>
          <a:p>
            <a:pPr algn="just" defTabSz="612759" eaLnBrk="0" hangingPunct="0">
              <a:lnSpc>
                <a:spcPct val="95000"/>
              </a:lnSpc>
            </a:pPr>
            <a:endParaRPr lang="en-US" sz="2800" dirty="0">
              <a:latin typeface="Times New Roman" pitchFamily="18" charset="0"/>
            </a:endParaRPr>
          </a:p>
          <a:p>
            <a:pPr algn="just" defTabSz="612759" eaLnBrk="0" hangingPunct="0">
              <a:lnSpc>
                <a:spcPct val="95000"/>
              </a:lnSpc>
            </a:pPr>
            <a:r>
              <a:rPr lang="en-US" sz="2800" dirty="0">
                <a:latin typeface="Times New Roman" pitchFamily="18" charset="0"/>
              </a:rPr>
              <a:t>	Attempts of using automated classification methods such as utilizing artificial intelligence (AI) face limitations which include the need of a lossy conversion to other formats such as 2D/3D representations or graphs [1], which increases inference time and model complexity. Other issues such as incompatible proprietary file formats and overreliance on file metadata negatively impacts the accuracy of these methods.</a:t>
            </a:r>
          </a:p>
          <a:p>
            <a:pPr algn="just" defTabSz="612759" eaLnBrk="0" hangingPunct="0">
              <a:lnSpc>
                <a:spcPct val="95000"/>
              </a:lnSpc>
            </a:pPr>
            <a:endParaRPr lang="en-US" sz="2800" dirty="0">
              <a:latin typeface="Times New Roman" pitchFamily="18" charset="0"/>
            </a:endParaRPr>
          </a:p>
          <a:p>
            <a:pPr algn="just" defTabSz="612759" eaLnBrk="0" hangingPunct="0">
              <a:lnSpc>
                <a:spcPct val="95000"/>
              </a:lnSpc>
            </a:pPr>
            <a:r>
              <a:rPr lang="en-US" sz="2800" dirty="0">
                <a:latin typeface="Times New Roman" pitchFamily="18" charset="0"/>
              </a:rPr>
              <a:t>	Addressing these issues involves combining existing AI-based methods such as Transformer-based large language models for semantic annotation and natural language generation with a fixed, deterministic tokenization method for parsing and processing CAD files which only considers the underlying topological data integrated with the necessary geometric (numeric) data, eliminating the reliance of metadata which might pollute the model with irrelevant/misleading information. </a:t>
            </a:r>
          </a:p>
        </p:txBody>
      </p:sp>
      <p:sp>
        <p:nvSpPr>
          <p:cNvPr id="24" name="Text Box 43">
            <a:extLst>
              <a:ext uri="{FF2B5EF4-FFF2-40B4-BE49-F238E27FC236}">
                <a16:creationId xmlns:a16="http://schemas.microsoft.com/office/drawing/2014/main" id="{67696F18-98F3-4CA7-8717-540D8422BA2B}"/>
              </a:ext>
            </a:extLst>
          </p:cNvPr>
          <p:cNvSpPr txBox="1">
            <a:spLocks noChangeArrowheads="1"/>
          </p:cNvSpPr>
          <p:nvPr/>
        </p:nvSpPr>
        <p:spPr bwMode="auto">
          <a:xfrm>
            <a:off x="21977570" y="20992692"/>
            <a:ext cx="9829800" cy="1415772"/>
          </a:xfrm>
          <a:prstGeom prst="rect">
            <a:avLst/>
          </a:prstGeom>
          <a:noFill/>
          <a:ln w="9525">
            <a:noFill/>
            <a:miter lim="800000"/>
            <a:headEnd/>
            <a:tailEnd/>
          </a:ln>
          <a:effectLst/>
        </p:spPr>
        <p:txBody>
          <a:bodyPr>
            <a:spAutoFit/>
          </a:bodyPr>
          <a:lstStyle/>
          <a:p>
            <a:pPr defTabSz="4389329">
              <a:spcBef>
                <a:spcPct val="50000"/>
              </a:spcBef>
            </a:pPr>
            <a:r>
              <a:rPr lang="en-US" b="1" dirty="0"/>
              <a:t>Analysis</a:t>
            </a:r>
          </a:p>
        </p:txBody>
      </p:sp>
      <mc:AlternateContent xmlns:mc="http://schemas.openxmlformats.org/markup-compatibility/2006" xmlns:a14="http://schemas.microsoft.com/office/drawing/2010/main">
        <mc:Choice Requires="a14">
          <p:sp>
            <p:nvSpPr>
              <p:cNvPr id="25" name="Text Box 39">
                <a:extLst>
                  <a:ext uri="{FF2B5EF4-FFF2-40B4-BE49-F238E27FC236}">
                    <a16:creationId xmlns:a16="http://schemas.microsoft.com/office/drawing/2014/main" id="{F7B2E280-064A-46DC-8E13-7FE6CE38FD41}"/>
                  </a:ext>
                </a:extLst>
              </p:cNvPr>
              <p:cNvSpPr txBox="1">
                <a:spLocks noChangeArrowheads="1"/>
              </p:cNvSpPr>
              <p:nvPr/>
            </p:nvSpPr>
            <p:spPr bwMode="auto">
              <a:xfrm>
                <a:off x="22237921" y="23080596"/>
                <a:ext cx="9766300" cy="7839279"/>
              </a:xfrm>
              <a:prstGeom prst="rect">
                <a:avLst/>
              </a:prstGeom>
              <a:noFill/>
              <a:ln w="57150" cmpd="thinThick">
                <a:noFill/>
                <a:miter lim="800000"/>
                <a:headEnd/>
                <a:tailEnd/>
              </a:ln>
              <a:effectLst/>
            </p:spPr>
            <p:txBody>
              <a:bodyPr lIns="61171" tIns="30584" rIns="61171" bIns="30584">
                <a:spAutoFit/>
              </a:bodyPr>
              <a:lstStyle/>
              <a:p>
                <a:pPr algn="just" defTabSz="612759" eaLnBrk="0" hangingPunct="0">
                  <a:lnSpc>
                    <a:spcPct val="95000"/>
                  </a:lnSpc>
                </a:pPr>
                <a:r>
                  <a:rPr lang="en-US" sz="2800" dirty="0">
                    <a:latin typeface="Times New Roman" pitchFamily="18" charset="0"/>
                  </a:rPr>
                  <a:t>The evaluation of the Geometric-Semantic Adapter model revealed a strong capability for functional semantic comprehension, achieving a peak validation </a:t>
                </a:r>
                <a:r>
                  <a:rPr lang="en-US" sz="2800" dirty="0" err="1">
                    <a:latin typeface="Times New Roman" pitchFamily="18" charset="0"/>
                  </a:rPr>
                  <a:t>BERTScore</a:t>
                </a:r>
                <a:r>
                  <a:rPr lang="en-US" sz="2800" dirty="0">
                    <a:latin typeface="Times New Roman" pitchFamily="18" charset="0"/>
                  </a:rPr>
                  <a:t> F1 of 0.93 that remained stable through the final epoch. The Cross-Entropy loss demonstrated robust learning dynamics; the training loss minimized at 0.50, while the validation loss reached a minimum of 1.50 before forming a mild plateau at 1.74. This confirms that the quantized Parameter-Efficient Fine-Tuning (PEFT) strategy successfully mitigated overfitting while allowing the model to extract generalized geometric rules. </a:t>
                </a:r>
              </a:p>
              <a:p>
                <a:pPr algn="just" defTabSz="612759" eaLnBrk="0" hangingPunct="0">
                  <a:lnSpc>
                    <a:spcPct val="95000"/>
                  </a:lnSpc>
                </a:pPr>
                <a:endParaRPr lang="en-US" sz="2800" dirty="0">
                  <a:latin typeface="Times New Roman" pitchFamily="18" charset="0"/>
                </a:endParaRPr>
              </a:p>
              <a:p>
                <a:pPr algn="just" defTabSz="612759" eaLnBrk="0" hangingPunct="0">
                  <a:lnSpc>
                    <a:spcPct val="95000"/>
                  </a:lnSpc>
                </a:pPr>
                <a:r>
                  <a:rPr lang="en-US" sz="2800" dirty="0">
                    <a:latin typeface="Times New Roman" pitchFamily="18" charset="0"/>
                  </a:rPr>
                  <a:t>Conversely, generative syntactic metrics recorded lower absolute performance, with ROUGE-L reaching a maximum value of 0.40 and BLEU-4 peaking at 0.24. This disparity highlights the inherent volatility of strict, exact </a:t>
                </a:r>
                <a14:m>
                  <m:oMath xmlns:m="http://schemas.openxmlformats.org/officeDocument/2006/math">
                    <m:r>
                      <a:rPr lang="en-US" sz="2800" i="1" dirty="0" smtClean="0">
                        <a:latin typeface="Cambria Math" panose="02040503050406030204" pitchFamily="18" charset="0"/>
                      </a:rPr>
                      <m:t>𝑛</m:t>
                    </m:r>
                  </m:oMath>
                </a14:m>
                <a:r>
                  <a:rPr lang="en-US" sz="2800" dirty="0">
                    <a:latin typeface="Times New Roman" pitchFamily="18" charset="0"/>
                  </a:rPr>
                  <a:t>-gram matching when translating continuous parametric constraints. While the model accurately categorizes the high-level functional identity of an object, predicting exact phrasing and dimensions of the object results in </a:t>
                </a:r>
                <a14:m>
                  <m:oMath xmlns:m="http://schemas.openxmlformats.org/officeDocument/2006/math">
                    <m:r>
                      <a:rPr lang="en-US" sz="2800" i="1" dirty="0" smtClean="0">
                        <a:latin typeface="Cambria Math" panose="02040503050406030204" pitchFamily="18" charset="0"/>
                      </a:rPr>
                      <m:t>𝑛</m:t>
                    </m:r>
                  </m:oMath>
                </a14:m>
                <a:r>
                  <a:rPr lang="en-US" sz="2800" dirty="0">
                    <a:latin typeface="Times New Roman" pitchFamily="18" charset="0"/>
                  </a:rPr>
                  <a:t>-gram fragmentation and structural hallucination errors.</a:t>
                </a:r>
                <a:endParaRPr lang="en-US" sz="2000" dirty="0">
                  <a:latin typeface="Times New Roman" pitchFamily="18" charset="0"/>
                </a:endParaRPr>
              </a:p>
            </p:txBody>
          </p:sp>
        </mc:Choice>
        <mc:Fallback xmlns="">
          <p:sp>
            <p:nvSpPr>
              <p:cNvPr id="25" name="Text Box 39">
                <a:extLst>
                  <a:ext uri="{FF2B5EF4-FFF2-40B4-BE49-F238E27FC236}">
                    <a16:creationId xmlns:a16="http://schemas.microsoft.com/office/drawing/2014/main" id="{F7B2E280-064A-46DC-8E13-7FE6CE38FD41}"/>
                  </a:ext>
                </a:extLst>
              </p:cNvPr>
              <p:cNvSpPr txBox="1">
                <a:spLocks noRot="1" noChangeAspect="1" noMove="1" noResize="1" noEditPoints="1" noAdjustHandles="1" noChangeArrowheads="1" noChangeShapeType="1" noTextEdit="1"/>
              </p:cNvSpPr>
              <p:nvPr/>
            </p:nvSpPr>
            <p:spPr bwMode="auto">
              <a:xfrm>
                <a:off x="22237921" y="23080596"/>
                <a:ext cx="9766300" cy="7839279"/>
              </a:xfrm>
              <a:prstGeom prst="rect">
                <a:avLst/>
              </a:prstGeom>
              <a:blipFill>
                <a:blip r:embed="rId4"/>
                <a:stretch>
                  <a:fillRect l="-1623" t="-1244" r="-1561" b="-1477"/>
                </a:stretch>
              </a:blipFill>
              <a:ln w="57150" cmpd="thinThick">
                <a:noFill/>
                <a:miter lim="800000"/>
                <a:headEnd/>
                <a:tailEnd/>
              </a:ln>
              <a:effectLst/>
            </p:spPr>
            <p:txBody>
              <a:bodyPr/>
              <a:lstStyle/>
              <a:p>
                <a:r>
                  <a:rPr lang="en-ID">
                    <a:noFill/>
                  </a:rPr>
                  <a:t> </a:t>
                </a:r>
              </a:p>
            </p:txBody>
          </p:sp>
        </mc:Fallback>
      </mc:AlternateContent>
      <p:sp>
        <p:nvSpPr>
          <p:cNvPr id="26" name="Text Box 42">
            <a:extLst>
              <a:ext uri="{FF2B5EF4-FFF2-40B4-BE49-F238E27FC236}">
                <a16:creationId xmlns:a16="http://schemas.microsoft.com/office/drawing/2014/main" id="{0343B25F-338C-4241-876C-CE1E9A00B382}"/>
              </a:ext>
            </a:extLst>
          </p:cNvPr>
          <p:cNvSpPr txBox="1">
            <a:spLocks noChangeArrowheads="1"/>
          </p:cNvSpPr>
          <p:nvPr/>
        </p:nvSpPr>
        <p:spPr bwMode="auto">
          <a:xfrm>
            <a:off x="717770" y="20186975"/>
            <a:ext cx="9829800" cy="1415772"/>
          </a:xfrm>
          <a:prstGeom prst="rect">
            <a:avLst/>
          </a:prstGeom>
          <a:noFill/>
          <a:ln w="9525">
            <a:noFill/>
            <a:miter lim="800000"/>
            <a:headEnd/>
            <a:tailEnd/>
          </a:ln>
          <a:effectLst/>
        </p:spPr>
        <p:txBody>
          <a:bodyPr>
            <a:spAutoFit/>
          </a:bodyPr>
          <a:lstStyle/>
          <a:p>
            <a:pPr defTabSz="4389329">
              <a:spcBef>
                <a:spcPct val="50000"/>
              </a:spcBef>
            </a:pPr>
            <a:r>
              <a:rPr lang="en-US" b="1" dirty="0"/>
              <a:t>Introduction </a:t>
            </a:r>
          </a:p>
        </p:txBody>
      </p:sp>
      <p:pic>
        <p:nvPicPr>
          <p:cNvPr id="4" name="Picture 3">
            <a:extLst>
              <a:ext uri="{FF2B5EF4-FFF2-40B4-BE49-F238E27FC236}">
                <a16:creationId xmlns:a16="http://schemas.microsoft.com/office/drawing/2014/main" id="{C44343BE-2650-0D93-E796-10E2CD72057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4598"/>
          <a:stretch/>
        </p:blipFill>
        <p:spPr>
          <a:xfrm>
            <a:off x="22236650" y="14085963"/>
            <a:ext cx="9844693" cy="6708610"/>
          </a:xfrm>
          <a:prstGeom prst="rect">
            <a:avLst/>
          </a:prstGeom>
        </p:spPr>
      </p:pic>
      <p:graphicFrame>
        <p:nvGraphicFramePr>
          <p:cNvPr id="5" name="Table 4">
            <a:extLst>
              <a:ext uri="{FF2B5EF4-FFF2-40B4-BE49-F238E27FC236}">
                <a16:creationId xmlns:a16="http://schemas.microsoft.com/office/drawing/2014/main" id="{A1237114-DA7D-48EF-6CA5-99E3FA54D395}"/>
              </a:ext>
            </a:extLst>
          </p:cNvPr>
          <p:cNvGraphicFramePr>
            <a:graphicFrameLocks noGrp="1"/>
          </p:cNvGraphicFramePr>
          <p:nvPr>
            <p:extLst>
              <p:ext uri="{D42A27DB-BD31-4B8C-83A1-F6EECF244321}">
                <p14:modId xmlns:p14="http://schemas.microsoft.com/office/powerpoint/2010/main" val="610855048"/>
              </p:ext>
            </p:extLst>
          </p:nvPr>
        </p:nvGraphicFramePr>
        <p:xfrm>
          <a:off x="22426626" y="9794808"/>
          <a:ext cx="9577602" cy="3355841"/>
        </p:xfrm>
        <a:graphic>
          <a:graphicData uri="http://schemas.openxmlformats.org/drawingml/2006/table">
            <a:tbl>
              <a:tblPr/>
              <a:tblGrid>
                <a:gridCol w="1134414">
                  <a:extLst>
                    <a:ext uri="{9D8B030D-6E8A-4147-A177-3AD203B41FA5}">
                      <a16:colId xmlns:a16="http://schemas.microsoft.com/office/drawing/2014/main" val="926604131"/>
                    </a:ext>
                  </a:extLst>
                </a:gridCol>
                <a:gridCol w="1630680">
                  <a:extLst>
                    <a:ext uri="{9D8B030D-6E8A-4147-A177-3AD203B41FA5}">
                      <a16:colId xmlns:a16="http://schemas.microsoft.com/office/drawing/2014/main" val="4201189386"/>
                    </a:ext>
                  </a:extLst>
                </a:gridCol>
                <a:gridCol w="1752600">
                  <a:extLst>
                    <a:ext uri="{9D8B030D-6E8A-4147-A177-3AD203B41FA5}">
                      <a16:colId xmlns:a16="http://schemas.microsoft.com/office/drawing/2014/main" val="3627868036"/>
                    </a:ext>
                  </a:extLst>
                </a:gridCol>
                <a:gridCol w="1867374">
                  <a:extLst>
                    <a:ext uri="{9D8B030D-6E8A-4147-A177-3AD203B41FA5}">
                      <a16:colId xmlns:a16="http://schemas.microsoft.com/office/drawing/2014/main" val="3209407488"/>
                    </a:ext>
                  </a:extLst>
                </a:gridCol>
                <a:gridCol w="1596267">
                  <a:extLst>
                    <a:ext uri="{9D8B030D-6E8A-4147-A177-3AD203B41FA5}">
                      <a16:colId xmlns:a16="http://schemas.microsoft.com/office/drawing/2014/main" val="2133921091"/>
                    </a:ext>
                  </a:extLst>
                </a:gridCol>
                <a:gridCol w="1596267">
                  <a:extLst>
                    <a:ext uri="{9D8B030D-6E8A-4147-A177-3AD203B41FA5}">
                      <a16:colId xmlns:a16="http://schemas.microsoft.com/office/drawing/2014/main" val="1728855219"/>
                    </a:ext>
                  </a:extLst>
                </a:gridCol>
              </a:tblGrid>
              <a:tr h="801276">
                <a:tc>
                  <a:txBody>
                    <a:bodyPr/>
                    <a:lstStyle/>
                    <a:p>
                      <a:pPr algn="ctr" fontAlgn="t"/>
                      <a:r>
                        <a:rPr lang="en-US" sz="2400" b="1" i="0" u="none" strike="noStrike" dirty="0">
                          <a:solidFill>
                            <a:schemeClr val="bg1"/>
                          </a:solidFill>
                          <a:effectLst/>
                          <a:latin typeface="Calibri" panose="020F0502020204030204" pitchFamily="34" charset="0"/>
                        </a:rPr>
                        <a:t>No</a:t>
                      </a:r>
                      <a:endParaRPr lang="en-ID" sz="2400" b="1" i="0" u="none" strike="noStrike" dirty="0">
                        <a:solidFill>
                          <a:schemeClr val="bg1"/>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t"/>
                      <a:r>
                        <a:rPr lang="en-ID" sz="2400" b="1" i="0" u="none" strike="noStrike" dirty="0">
                          <a:solidFill>
                            <a:schemeClr val="bg1"/>
                          </a:solidFill>
                          <a:effectLst/>
                          <a:latin typeface="Calibri" panose="020F0502020204030204" pitchFamily="34" charset="0"/>
                        </a:rPr>
                        <a:t>T. Loss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t"/>
                      <a:r>
                        <a:rPr lang="en-ID" sz="2400" b="1" i="0" u="none" strike="noStrike" dirty="0">
                          <a:solidFill>
                            <a:schemeClr val="bg1"/>
                          </a:solidFill>
                          <a:effectLst/>
                          <a:latin typeface="Calibri" panose="020F0502020204030204" pitchFamily="34" charset="0"/>
                        </a:rPr>
                        <a:t>V. Loss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t"/>
                      <a:r>
                        <a:rPr lang="en-ID" sz="2400" b="1" i="0" u="none" strike="noStrike" dirty="0" err="1">
                          <a:solidFill>
                            <a:schemeClr val="bg1"/>
                          </a:solidFill>
                          <a:effectLst/>
                          <a:latin typeface="Calibri" panose="020F0502020204030204" pitchFamily="34" charset="0"/>
                        </a:rPr>
                        <a:t>BERTScore</a:t>
                      </a:r>
                      <a:r>
                        <a:rPr lang="en-ID" sz="2400" b="1" i="0" u="none" strike="noStrike" dirty="0">
                          <a:solidFill>
                            <a:schemeClr val="bg1"/>
                          </a:solidFill>
                          <a:effectLst/>
                          <a:latin typeface="Calibri" panose="020F0502020204030204" pitchFamily="34" charset="0"/>
                        </a:rPr>
                        <a:t> F1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t"/>
                      <a:r>
                        <a:rPr lang="en-US" sz="2400" b="1" i="0" u="none" strike="noStrike" dirty="0">
                          <a:solidFill>
                            <a:schemeClr val="bg1"/>
                          </a:solidFill>
                          <a:effectLst/>
                          <a:latin typeface="Calibri" panose="020F0502020204030204" pitchFamily="34" charset="0"/>
                        </a:rPr>
                        <a:t>R</a:t>
                      </a:r>
                      <a:r>
                        <a:rPr lang="en-ID" sz="2400" b="1" i="0" u="none" strike="noStrike" dirty="0">
                          <a:solidFill>
                            <a:schemeClr val="bg1"/>
                          </a:solidFill>
                          <a:effectLst/>
                          <a:latin typeface="Calibri" panose="020F0502020204030204" pitchFamily="34" charset="0"/>
                        </a:rPr>
                        <a:t>OUGE-L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t"/>
                      <a:r>
                        <a:rPr lang="en-ID" sz="2400" b="1" i="0" u="none" strike="noStrike" dirty="0">
                          <a:solidFill>
                            <a:schemeClr val="bg1"/>
                          </a:solidFill>
                          <a:effectLst/>
                          <a:latin typeface="Calibri" panose="020F0502020204030204" pitchFamily="34" charset="0"/>
                        </a:rPr>
                        <a:t>BLEU-4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950568172"/>
                  </a:ext>
                </a:extLst>
              </a:tr>
              <a:tr h="510913">
                <a:tc>
                  <a:txBody>
                    <a:bodyPr/>
                    <a:lstStyle/>
                    <a:p>
                      <a:pPr algn="ctr" fontAlgn="b"/>
                      <a:r>
                        <a:rPr lang="en-US" sz="2400" b="0" i="0" u="none" strike="noStrike" dirty="0">
                          <a:solidFill>
                            <a:srgbClr val="000000"/>
                          </a:solidFill>
                          <a:effectLst/>
                          <a:latin typeface="Calibri" panose="020F0502020204030204" pitchFamily="34" charset="0"/>
                        </a:rPr>
                        <a:t>1</a:t>
                      </a:r>
                      <a:endParaRPr lang="en-ID"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3,59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3,26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0,88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0,04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4360845"/>
                  </a:ext>
                </a:extLst>
              </a:tr>
              <a:tr h="510913">
                <a:tc>
                  <a:txBody>
                    <a:bodyPr/>
                    <a:lstStyle/>
                    <a:p>
                      <a:pPr algn="ctr" fontAlgn="b"/>
                      <a:r>
                        <a:rPr lang="en-US" sz="2400" b="0" i="0" u="none" strike="noStrike" dirty="0">
                          <a:solidFill>
                            <a:srgbClr val="000000"/>
                          </a:solidFill>
                          <a:effectLst/>
                          <a:latin typeface="Calibri" panose="020F0502020204030204" pitchFamily="34" charset="0"/>
                        </a:rPr>
                        <a:t>2</a:t>
                      </a:r>
                      <a:endParaRPr lang="en-ID"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1,39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1,65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0,91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0,30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9869468"/>
                  </a:ext>
                </a:extLst>
              </a:tr>
              <a:tr h="510913">
                <a:tc>
                  <a:txBody>
                    <a:bodyPr/>
                    <a:lstStyle/>
                    <a:p>
                      <a:pPr algn="ctr" fontAlgn="b"/>
                      <a:r>
                        <a:rPr lang="en-US" sz="2400" b="0" i="0" u="none" strike="noStrike" dirty="0">
                          <a:solidFill>
                            <a:srgbClr val="000000"/>
                          </a:solidFill>
                          <a:effectLst/>
                          <a:latin typeface="Calibri" panose="020F0502020204030204" pitchFamily="34" charset="0"/>
                        </a:rPr>
                        <a:t>3</a:t>
                      </a:r>
                      <a:endParaRPr lang="en-ID"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1,56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0,91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0,30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4448440"/>
                  </a:ext>
                </a:extLst>
              </a:tr>
              <a:tr h="510913">
                <a:tc>
                  <a:txBody>
                    <a:bodyPr/>
                    <a:lstStyle/>
                    <a:p>
                      <a:pPr algn="ctr" fontAlgn="b"/>
                      <a:r>
                        <a:rPr lang="en-US" sz="2400" b="0" i="0" u="none" strike="noStrike" dirty="0">
                          <a:solidFill>
                            <a:srgbClr val="000000"/>
                          </a:solidFill>
                          <a:effectLst/>
                          <a:latin typeface="Calibri" panose="020F0502020204030204" pitchFamily="34" charset="0"/>
                        </a:rPr>
                        <a:t>4</a:t>
                      </a:r>
                      <a:endParaRPr lang="en-ID"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1,60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0,92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0,32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2518709"/>
                  </a:ext>
                </a:extLst>
              </a:tr>
              <a:tr h="510913">
                <a:tc>
                  <a:txBody>
                    <a:bodyPr/>
                    <a:lstStyle/>
                    <a:p>
                      <a:pPr algn="ctr" fontAlgn="b"/>
                      <a:r>
                        <a:rPr lang="en-US" sz="2400" b="0" i="0" u="none" strike="noStrike" dirty="0">
                          <a:solidFill>
                            <a:srgbClr val="000000"/>
                          </a:solidFill>
                          <a:effectLst/>
                          <a:latin typeface="Calibri" panose="020F0502020204030204" pitchFamily="34" charset="0"/>
                        </a:rPr>
                        <a:t>5</a:t>
                      </a:r>
                      <a:endParaRPr lang="en-ID"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1,66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0,92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0,34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D" sz="2400" b="0" i="0" u="none" strike="noStrike" dirty="0">
                          <a:solidFill>
                            <a:srgbClr val="000000"/>
                          </a:solidFill>
                          <a:effectLst/>
                          <a:latin typeface="Calibri" panose="020F0502020204030204" pitchFamily="34" charset="0"/>
                        </a:rPr>
                        <a:t>0,18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1773800"/>
                  </a:ext>
                </a:extLst>
              </a:tr>
            </a:tbl>
          </a:graphicData>
        </a:graphic>
      </p:graphicFrame>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F131EE98-A62B-A2EC-A8FF-1B3E875F6ADB}"/>
                  </a:ext>
                </a:extLst>
              </p:cNvPr>
              <p:cNvGraphicFramePr>
                <a:graphicFrameLocks noGrp="1"/>
              </p:cNvGraphicFramePr>
              <p:nvPr>
                <p:extLst>
                  <p:ext uri="{D42A27DB-BD31-4B8C-83A1-F6EECF244321}">
                    <p14:modId xmlns:p14="http://schemas.microsoft.com/office/powerpoint/2010/main" val="366245512"/>
                  </p:ext>
                </p:extLst>
              </p:nvPr>
            </p:nvGraphicFramePr>
            <p:xfrm>
              <a:off x="11701317" y="26572999"/>
              <a:ext cx="9431103" cy="5244075"/>
            </p:xfrm>
            <a:graphic>
              <a:graphicData uri="http://schemas.openxmlformats.org/drawingml/2006/table">
                <a:tbl>
                  <a:tblPr firstRow="1" bandRow="1">
                    <a:tableStyleId>{073A0DAA-6AF3-43AB-8588-CEC1D06C72B9}</a:tableStyleId>
                  </a:tblPr>
                  <a:tblGrid>
                    <a:gridCol w="2605399">
                      <a:extLst>
                        <a:ext uri="{9D8B030D-6E8A-4147-A177-3AD203B41FA5}">
                          <a16:colId xmlns:a16="http://schemas.microsoft.com/office/drawing/2014/main" val="1929203496"/>
                        </a:ext>
                      </a:extLst>
                    </a:gridCol>
                    <a:gridCol w="3412852">
                      <a:extLst>
                        <a:ext uri="{9D8B030D-6E8A-4147-A177-3AD203B41FA5}">
                          <a16:colId xmlns:a16="http://schemas.microsoft.com/office/drawing/2014/main" val="687639961"/>
                        </a:ext>
                      </a:extLst>
                    </a:gridCol>
                    <a:gridCol w="3412852">
                      <a:extLst>
                        <a:ext uri="{9D8B030D-6E8A-4147-A177-3AD203B41FA5}">
                          <a16:colId xmlns:a16="http://schemas.microsoft.com/office/drawing/2014/main" val="3500217291"/>
                        </a:ext>
                      </a:extLst>
                    </a:gridCol>
                  </a:tblGrid>
                  <a:tr h="449355">
                    <a:tc>
                      <a:txBody>
                        <a:bodyPr/>
                        <a:lstStyle/>
                        <a:p>
                          <a:pPr algn="ctr"/>
                          <a:r>
                            <a:rPr lang="en-US" sz="2000" dirty="0">
                              <a:latin typeface="Times New Roman" panose="02020603050405020304" pitchFamily="18" charset="0"/>
                              <a:cs typeface="Times New Roman" panose="02020603050405020304" pitchFamily="18" charset="0"/>
                            </a:rPr>
                            <a:t>Metric</a:t>
                          </a:r>
                          <a:endParaRPr lang="en-ID" sz="2000" dirty="0">
                            <a:latin typeface="Times New Roman" panose="02020603050405020304" pitchFamily="18" charset="0"/>
                            <a:cs typeface="Times New Roman" panose="02020603050405020304" pitchFamily="18" charset="0"/>
                          </a:endParaRPr>
                        </a:p>
                      </a:txBody>
                      <a:tcPr anchor="ctr"/>
                    </a:tc>
                    <a:tc gridSpan="2">
                      <a:txBody>
                        <a:bodyPr/>
                        <a:lstStyle/>
                        <a:p>
                          <a:pPr algn="ctr"/>
                          <a:r>
                            <a:rPr lang="en-US" sz="2000" dirty="0">
                              <a:latin typeface="Times New Roman" panose="02020603050405020304" pitchFamily="18" charset="0"/>
                              <a:cs typeface="Times New Roman" panose="02020603050405020304" pitchFamily="18" charset="0"/>
                            </a:rPr>
                            <a:t>Formula</a:t>
                          </a:r>
                          <a:endParaRPr lang="en-ID" sz="2000" dirty="0">
                            <a:latin typeface="Times New Roman" panose="02020603050405020304" pitchFamily="18" charset="0"/>
                            <a:cs typeface="Times New Roman" panose="02020603050405020304" pitchFamily="18" charset="0"/>
                          </a:endParaRPr>
                        </a:p>
                      </a:txBody>
                      <a:tcPr anchor="ctr"/>
                    </a:tc>
                    <a:tc hMerge="1">
                      <a:txBody>
                        <a:bodyPr/>
                        <a:lstStyle/>
                        <a:p>
                          <a:endParaRPr lang="en-ID"/>
                        </a:p>
                      </a:txBody>
                      <a:tcPr/>
                    </a:tc>
                    <a:extLst>
                      <a:ext uri="{0D108BD9-81ED-4DB2-BD59-A6C34878D82A}">
                        <a16:rowId xmlns:a16="http://schemas.microsoft.com/office/drawing/2014/main" val="2752419581"/>
                      </a:ext>
                    </a:extLst>
                  </a:tr>
                  <a:tr h="1254392">
                    <a:tc>
                      <a:txBody>
                        <a:bodyPr/>
                        <a:lstStyle/>
                        <a:p>
                          <a:pPr algn="ctr"/>
                          <a:r>
                            <a:rPr lang="en-US" sz="2000" dirty="0">
                              <a:latin typeface="Times New Roman" panose="02020603050405020304" pitchFamily="18" charset="0"/>
                              <a:cs typeface="Times New Roman" panose="02020603050405020304" pitchFamily="18" charset="0"/>
                            </a:rPr>
                            <a:t>BLEU-4</a:t>
                          </a:r>
                          <a:endParaRPr lang="en-ID" sz="2000" dirty="0">
                            <a:latin typeface="Times New Roman" panose="02020603050405020304" pitchFamily="18" charset="0"/>
                            <a:cs typeface="Times New Roman" panose="02020603050405020304" pitchFamily="18" charset="0"/>
                          </a:endParaRPr>
                        </a:p>
                      </a:txBody>
                      <a:tcPr anchor="ctr"/>
                    </a:tc>
                    <a:tc gridSpan="2">
                      <a:txBody>
                        <a:bodyPr/>
                        <a:lstStyle/>
                        <a:p>
                          <a:pPr algn="ctr"/>
                          <a14:m>
                            <m:oMathPara xmlns:m="http://schemas.openxmlformats.org/officeDocument/2006/math">
                              <m:oMathParaPr>
                                <m:jc m:val="centerGroup"/>
                              </m:oMathParaPr>
                              <m:oMath xmlns:m="http://schemas.openxmlformats.org/officeDocument/2006/math">
                                <m:r>
                                  <m:rPr>
                                    <m:nor/>
                                  </m:rPr>
                                  <a:rPr lang="en-US" sz="2000" i="0" smtClean="0">
                                    <a:latin typeface="Cambria Math" panose="02040503050406030204" pitchFamily="18" charset="0"/>
                                  </a:rPr>
                                  <m:t>BP</m:t>
                                </m:r>
                                <m:r>
                                  <a:rPr lang="en-US" sz="200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i="0">
                                        <a:latin typeface="Cambria Math" panose="02040503050406030204" pitchFamily="18" charset="0"/>
                                      </a:rPr>
                                      <m:t>exp</m:t>
                                    </m:r>
                                  </m:fName>
                                  <m:e>
                                    <m:d>
                                      <m:dPr>
                                        <m:ctrlPr>
                                          <a:rPr lang="en-US" sz="2000" b="0" i="1" smtClean="0">
                                            <a:latin typeface="Cambria Math" panose="02040503050406030204" pitchFamily="18" charset="0"/>
                                          </a:rPr>
                                        </m:ctrlPr>
                                      </m:dPr>
                                      <m:e>
                                        <m:nary>
                                          <m:naryPr>
                                            <m:chr m:val="∑"/>
                                            <m:ctrlPr>
                                              <a:rPr lang="en-US" sz="2000" b="0" i="1" smtClean="0">
                                                <a:latin typeface="Cambria Math" panose="02040503050406030204" pitchFamily="18" charset="0"/>
                                              </a:rPr>
                                            </m:ctrlPr>
                                          </m:naryPr>
                                          <m:sub>
                                            <m:r>
                                              <a:rPr lang="en-US" sz="2000" b="0" i="1" smtClean="0">
                                                <a:latin typeface="Cambria Math" panose="02040503050406030204" pitchFamily="18" charset="0"/>
                                              </a:rPr>
                                              <m:t>𝑛</m:t>
                                            </m:r>
                                            <m:r>
                                              <a:rPr lang="en-US" sz="2000" b="0" i="1" smtClean="0">
                                                <a:latin typeface="Cambria Math" panose="02040503050406030204" pitchFamily="18" charset="0"/>
                                              </a:rPr>
                                              <m:t>=1</m:t>
                                            </m:r>
                                          </m:sub>
                                          <m:sup>
                                            <m:r>
                                              <a:rPr lang="en-US" sz="2000" b="0" i="1" smtClean="0">
                                                <a:latin typeface="Cambria Math" panose="02040503050406030204" pitchFamily="18" charset="0"/>
                                              </a:rPr>
                                              <m:t>4</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𝑛</m:t>
                                                </m:r>
                                              </m:sub>
                                            </m:sSub>
                                          </m:e>
                                        </m:nary>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𝑛</m:t>
                                                </m:r>
                                              </m:sub>
                                            </m:sSub>
                                          </m:e>
                                        </m:func>
                                      </m:e>
                                    </m:d>
                                  </m:e>
                                </m:func>
                              </m:oMath>
                            </m:oMathPara>
                          </a14:m>
                          <a:endParaRPr lang="en-ID" sz="2000" dirty="0">
                            <a:latin typeface="Times New Roman" panose="02020603050405020304" pitchFamily="18" charset="0"/>
                            <a:cs typeface="Times New Roman" panose="02020603050405020304" pitchFamily="18" charset="0"/>
                          </a:endParaRPr>
                        </a:p>
                      </a:txBody>
                      <a:tcPr anchor="ctr"/>
                    </a:tc>
                    <a:tc hMerge="1">
                      <a:txBody>
                        <a:bodyPr/>
                        <a:lstStyle/>
                        <a:p>
                          <a:endParaRPr lang="en-ID"/>
                        </a:p>
                      </a:txBody>
                      <a:tcPr/>
                    </a:tc>
                    <a:extLst>
                      <a:ext uri="{0D108BD9-81ED-4DB2-BD59-A6C34878D82A}">
                        <a16:rowId xmlns:a16="http://schemas.microsoft.com/office/drawing/2014/main" val="2410960447"/>
                      </a:ext>
                    </a:extLst>
                  </a:tr>
                  <a:tr h="787558">
                    <a:tc>
                      <a:txBody>
                        <a:bodyPr/>
                        <a:lstStyle/>
                        <a:p>
                          <a:pPr algn="ctr"/>
                          <a:r>
                            <a:rPr lang="en-US" sz="2000" dirty="0">
                              <a:latin typeface="Times New Roman" panose="02020603050405020304" pitchFamily="18" charset="0"/>
                              <a:cs typeface="Times New Roman" panose="02020603050405020304" pitchFamily="18" charset="0"/>
                            </a:rPr>
                            <a:t>ROUGE-L [4]</a:t>
                          </a:r>
                          <a:endParaRPr lang="en-ID" sz="2000" dirty="0">
                            <a:latin typeface="Times New Roman" panose="02020603050405020304" pitchFamily="18" charset="0"/>
                            <a:cs typeface="Times New Roman" panose="02020603050405020304" pitchFamily="18" charset="0"/>
                          </a:endParaRPr>
                        </a:p>
                      </a:txBody>
                      <a:tcPr anchor="ctr">
                        <a:lnB w="12700" cap="flat" cmpd="sng" algn="ctr">
                          <a:solidFill>
                            <a:schemeClr val="bg1"/>
                          </a:solidFill>
                          <a:prstDash val="solid"/>
                          <a:round/>
                          <a:headEnd type="none" w="med" len="med"/>
                          <a:tailEnd type="none" w="med" len="med"/>
                        </a:lnB>
                      </a:tcPr>
                    </a:tc>
                    <a:tc gridSpan="2">
                      <a:txBody>
                        <a:bodyPr/>
                        <a:lstStyle/>
                        <a:p>
                          <a:pPr algn="ctr"/>
                          <a14:m>
                            <m:oMathPara xmlns:m="http://schemas.openxmlformats.org/officeDocument/2006/math">
                              <m:oMathParaPr>
                                <m:jc m:val="centerGroup"/>
                              </m:oMathParaPr>
                              <m:oMath xmlns:m="http://schemas.openxmlformats.org/officeDocument/2006/math">
                                <m:r>
                                  <m:rPr>
                                    <m:nor/>
                                  </m:rPr>
                                  <a:rPr lang="en-US" sz="2000" b="0" i="0" smtClean="0">
                                    <a:latin typeface="Cambria Math" panose="02040503050406030204" pitchFamily="18" charset="0"/>
                                  </a:rPr>
                                  <m:t>ROUGE</m:t>
                                </m:r>
                                <m:r>
                                  <m:rPr>
                                    <m:nor/>
                                  </m:rPr>
                                  <a:rPr lang="en-US" sz="2000" b="0" i="0" smtClean="0">
                                    <a:latin typeface="Cambria Math" panose="02040503050406030204" pitchFamily="18" charset="0"/>
                                  </a:rPr>
                                  <m:t>−</m:t>
                                </m:r>
                                <m:r>
                                  <m:rPr>
                                    <m:nor/>
                                  </m:rPr>
                                  <a:rPr lang="en-US" sz="2000" b="0" i="0" smtClean="0">
                                    <a:latin typeface="Cambria Math" panose="02040503050406030204" pitchFamily="18" charset="0"/>
                                  </a:rPr>
                                  <m:t>L</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𝐿𝐶𝑆</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𝑌</m:t>
                                        </m:r>
                                      </m:e>
                                    </m:d>
                                  </m:num>
                                  <m:den>
                                    <m:r>
                                      <a:rPr lang="en-US" sz="2000" b="0" i="1" smtClean="0">
                                        <a:latin typeface="Cambria Math" panose="02040503050406030204" pitchFamily="18" charset="0"/>
                                      </a:rPr>
                                      <m:t>𝑚</m:t>
                                    </m:r>
                                  </m:den>
                                </m:f>
                              </m:oMath>
                            </m:oMathPara>
                          </a14:m>
                          <a:endParaRPr lang="en-ID" sz="2000" dirty="0">
                            <a:latin typeface="Times New Roman" panose="02020603050405020304" pitchFamily="18" charset="0"/>
                            <a:cs typeface="Times New Roman" panose="02020603050405020304" pitchFamily="18" charset="0"/>
                          </a:endParaRPr>
                        </a:p>
                      </a:txBody>
                      <a:tcPr anchor="ctr">
                        <a:lnB w="12700" cap="flat" cmpd="sng" algn="ctr">
                          <a:noFill/>
                          <a:prstDash val="solid"/>
                          <a:round/>
                          <a:headEnd type="none" w="med" len="med"/>
                          <a:tailEnd type="none" w="med" len="med"/>
                        </a:lnB>
                      </a:tcPr>
                    </a:tc>
                    <a:tc hMerge="1">
                      <a:txBody>
                        <a:bodyPr/>
                        <a:lstStyle/>
                        <a:p>
                          <a:endParaRPr lang="en-ID"/>
                        </a:p>
                      </a:txBody>
                      <a:tcPr/>
                    </a:tc>
                    <a:extLst>
                      <a:ext uri="{0D108BD9-81ED-4DB2-BD59-A6C34878D82A}">
                        <a16:rowId xmlns:a16="http://schemas.microsoft.com/office/drawing/2014/main" val="3746138312"/>
                      </a:ext>
                    </a:extLst>
                  </a:tr>
                  <a:tr h="1376385">
                    <a:tc rowSpan="2">
                      <a:txBody>
                        <a:bodyPr/>
                        <a:lstStyle/>
                        <a:p>
                          <a:pPr algn="ctr"/>
                          <a:r>
                            <a:rPr lang="en-US" sz="2000" dirty="0" err="1">
                              <a:latin typeface="Times New Roman" panose="02020603050405020304" pitchFamily="18" charset="0"/>
                              <a:cs typeface="Times New Roman" panose="02020603050405020304" pitchFamily="18" charset="0"/>
                            </a:rPr>
                            <a:t>BERTScore</a:t>
                          </a:r>
                          <a:r>
                            <a:rPr lang="en-US" sz="2000" dirty="0">
                              <a:latin typeface="Times New Roman" panose="02020603050405020304" pitchFamily="18" charset="0"/>
                              <a:cs typeface="Times New Roman" panose="02020603050405020304" pitchFamily="18" charset="0"/>
                            </a:rPr>
                            <a:t> [5]</a:t>
                          </a:r>
                          <a:endParaRPr lang="en-ID" sz="20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
                                  <m:sSubPr>
                                    <m:ctrlPr>
                                      <a:rPr lang="en-ID" sz="2000" i="1" smtClean="0">
                                        <a:latin typeface="Cambria Math" panose="02040503050406030204" pitchFamily="18" charset="0"/>
                                      </a:rPr>
                                    </m:ctrlPr>
                                  </m:sSubPr>
                                  <m:e>
                                    <m:r>
                                      <a:rPr lang="en-US" sz="2000" b="0" i="1" smtClean="0">
                                        <a:latin typeface="Cambria Math" panose="02040503050406030204" pitchFamily="18" charset="0"/>
                                      </a:rPr>
                                      <m:t>𝑅</m:t>
                                    </m:r>
                                  </m:e>
                                  <m:sub>
                                    <m:r>
                                      <m:rPr>
                                        <m:nor/>
                                      </m:rPr>
                                      <a:rPr lang="en-US" sz="2000" b="0" i="0" smtClean="0">
                                        <a:latin typeface="Cambria Math" panose="02040503050406030204" pitchFamily="18" charset="0"/>
                                      </a:rPr>
                                      <m:t>BERT</m:t>
                                    </m:r>
                                  </m:sub>
                                </m:sSub>
                                <m:r>
                                  <a:rPr lang="en-ID" sz="2000"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0" smtClean="0">
                                        <a:latin typeface="Cambria Math" panose="02040503050406030204" pitchFamily="18" charset="0"/>
                                      </a:rPr>
                                      <m:t>1</m:t>
                                    </m:r>
                                  </m:num>
                                  <m:den>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den>
                                </m:f>
                                <m:r>
                                  <a:rPr lang="en-ID" sz="2000" smtClean="0">
                                    <a:latin typeface="Cambria Math" panose="02040503050406030204" pitchFamily="18" charset="0"/>
                                  </a:rPr>
                                  <m:t> </m:t>
                                </m:r>
                                <m:nary>
                                  <m:naryPr>
                                    <m:chr m:val="∑"/>
                                    <m:supHide m:val="on"/>
                                    <m:ctrlPr>
                                      <a:rPr lang="en-ID" sz="2000" b="0" i="1" smtClean="0">
                                        <a:latin typeface="Cambria Math" panose="02040503050406030204" pitchFamily="18" charset="0"/>
                                      </a:rPr>
                                    </m:ctrlPr>
                                  </m:naryPr>
                                  <m:sub>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x</m:t>
                                        </m:r>
                                      </m:e>
                                      <m:sub>
                                        <m:r>
                                          <m:rPr>
                                            <m:sty m:val="p"/>
                                          </m:rPr>
                                          <a:rPr lang="en-US" sz="2000" b="0" i="0" smtClean="0">
                                            <a:latin typeface="Cambria Math" panose="02040503050406030204" pitchFamily="18" charset="0"/>
                                          </a:rPr>
                                          <m:t>i</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sub>
                                  <m:sup/>
                                  <m:e>
                                    <m:limLow>
                                      <m:limLowPr>
                                        <m:ctrlPr>
                                          <a:rPr lang="en-ID" sz="2000" i="1" smtClean="0">
                                            <a:latin typeface="Cambria Math" panose="02040503050406030204" pitchFamily="18" charset="0"/>
                                          </a:rPr>
                                        </m:ctrlPr>
                                      </m:limLowPr>
                                      <m:e>
                                        <m:r>
                                          <m:rPr>
                                            <m:sty m:val="p"/>
                                          </m:rPr>
                                          <a:rPr lang="en-ID" sz="2000" smtClean="0">
                                            <a:latin typeface="Cambria Math" panose="02040503050406030204" pitchFamily="18" charset="0"/>
                                          </a:rPr>
                                          <m:t>max</m:t>
                                        </m:r>
                                      </m:e>
                                      <m:lim>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e>
                                          <m:sub>
                                            <m:r>
                                              <a:rPr lang="en-US" sz="2000" b="0" i="1" smtClean="0">
                                                <a:latin typeface="Cambria Math" panose="02040503050406030204" pitchFamily="18" charset="0"/>
                                              </a:rPr>
                                              <m:t>𝑗</m:t>
                                            </m:r>
                                          </m:sub>
                                        </m:sSub>
                                        <m:r>
                                          <a:rPr lang="en-ID" sz="200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lim>
                                    </m:limLow>
                                    <m:r>
                                      <a:rPr lang="en-US" sz="2000" b="1" i="1" smtClean="0">
                                        <a:latin typeface="Cambria Math" panose="02040503050406030204" pitchFamily="18" charset="0"/>
                                      </a:rPr>
                                      <m:t> </m:t>
                                    </m:r>
                                    <m:sSubSup>
                                      <m:sSubSupPr>
                                        <m:ctrlPr>
                                          <a:rPr lang="en-US" sz="2000" b="1" i="1" smtClean="0">
                                            <a:latin typeface="Cambria Math" panose="02040503050406030204" pitchFamily="18" charset="0"/>
                                            <a:cs typeface="Times New Roman" panose="02020603050405020304" pitchFamily="18" charset="0"/>
                                          </a:rPr>
                                        </m:ctrlPr>
                                      </m:sSubSupPr>
                                      <m:e>
                                        <m:r>
                                          <a:rPr lang="en-US" sz="2000" b="1" i="0" smtClean="0">
                                            <a:latin typeface="Cambria Math" panose="02040503050406030204" pitchFamily="18" charset="0"/>
                                            <a:cs typeface="Times New Roman" panose="02020603050405020304" pitchFamily="18" charset="0"/>
                                          </a:rPr>
                                          <m:t>𝐱</m:t>
                                        </m:r>
                                      </m:e>
                                      <m:sub>
                                        <m:r>
                                          <a:rPr lang="en-US" sz="2000" b="1" i="0" smtClean="0">
                                            <a:latin typeface="Cambria Math" panose="02040503050406030204" pitchFamily="18" charset="0"/>
                                            <a:cs typeface="Times New Roman" panose="02020603050405020304" pitchFamily="18" charset="0"/>
                                          </a:rPr>
                                          <m:t>𝐢</m:t>
                                        </m:r>
                                      </m:sub>
                                      <m:sup>
                                        <m:r>
                                          <a:rPr lang="en-US" sz="2000" b="0" i="1" smtClean="0">
                                            <a:latin typeface="Cambria Math" panose="02040503050406030204" pitchFamily="18" charset="0"/>
                                            <a:cs typeface="Times New Roman" panose="02020603050405020304" pitchFamily="18" charset="0"/>
                                          </a:rPr>
                                          <m:t>⊤</m:t>
                                        </m:r>
                                      </m:sup>
                                    </m:sSubSup>
                                    <m:sSub>
                                      <m:sSubPr>
                                        <m:ctrlPr>
                                          <a:rPr lang="en-US" sz="2000" b="1" i="1" smtClean="0">
                                            <a:latin typeface="Cambria Math" panose="02040503050406030204" pitchFamily="18" charset="0"/>
                                            <a:cs typeface="Times New Roman" panose="02020603050405020304" pitchFamily="18" charset="0"/>
                                          </a:rPr>
                                        </m:ctrlPr>
                                      </m:sSubPr>
                                      <m:e>
                                        <m:acc>
                                          <m:accPr>
                                            <m:chr m:val="̂"/>
                                            <m:ctrlPr>
                                              <a:rPr lang="en-US" sz="2000" b="1" i="1" smtClean="0">
                                                <a:latin typeface="Cambria Math" panose="02040503050406030204" pitchFamily="18" charset="0"/>
                                                <a:cs typeface="Times New Roman" panose="02020603050405020304" pitchFamily="18" charset="0"/>
                                              </a:rPr>
                                            </m:ctrlPr>
                                          </m:accPr>
                                          <m:e>
                                            <m:r>
                                              <a:rPr lang="en-US" sz="2000" b="1" i="0" smtClean="0">
                                                <a:latin typeface="Cambria Math" panose="02040503050406030204" pitchFamily="18" charset="0"/>
                                                <a:cs typeface="Times New Roman" panose="02020603050405020304" pitchFamily="18" charset="0"/>
                                              </a:rPr>
                                              <m:t>𝐱</m:t>
                                            </m:r>
                                          </m:e>
                                        </m:acc>
                                      </m:e>
                                      <m:sub>
                                        <m:r>
                                          <a:rPr lang="en-US" sz="2000" b="1" i="0" smtClean="0">
                                            <a:latin typeface="Cambria Math" panose="02040503050406030204" pitchFamily="18" charset="0"/>
                                            <a:cs typeface="Times New Roman" panose="02020603050405020304" pitchFamily="18" charset="0"/>
                                          </a:rPr>
                                          <m:t>𝐣</m:t>
                                        </m:r>
                                      </m:sub>
                                    </m:sSub>
                                  </m:e>
                                </m:nary>
                              </m:oMath>
                            </m:oMathPara>
                          </a14:m>
                          <a:endParaRPr lang="en-ID" sz="20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m:rPr>
                                        <m:nor/>
                                      </m:rPr>
                                      <a:rPr lang="en-US" sz="2000" b="0" i="0" smtClean="0">
                                        <a:latin typeface="Cambria Math" panose="02040503050406030204" pitchFamily="18" charset="0"/>
                                        <a:cs typeface="Times New Roman" panose="02020603050405020304" pitchFamily="18" charset="0"/>
                                      </a:rPr>
                                      <m:t>BERT</m:t>
                                    </m:r>
                                  </m:sub>
                                </m:sSub>
                                <m:r>
                                  <a:rPr lang="en-US" sz="2000" b="0" i="1" smtClean="0">
                                    <a:latin typeface="Cambria Math" panose="02040503050406030204" pitchFamily="18" charset="0"/>
                                    <a:cs typeface="Times New Roman" panose="02020603050405020304" pitchFamily="18" charset="0"/>
                                  </a:rPr>
                                  <m:t>=</m:t>
                                </m:r>
                                <m:f>
                                  <m:fPr>
                                    <m:ctrlPr>
                                      <a:rPr lang="en-US" sz="2000" b="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1</m:t>
                                    </m:r>
                                  </m:num>
                                  <m:den>
                                    <m:d>
                                      <m:dPr>
                                        <m:begChr m:val="|"/>
                                        <m:endChr m:val="|"/>
                                        <m:ctrlPr>
                                          <a:rPr lang="en-US" sz="2000" b="0" i="1" smtClean="0">
                                            <a:latin typeface="Cambria Math" panose="02040503050406030204" pitchFamily="18" charset="0"/>
                                            <a:cs typeface="Times New Roman" panose="02020603050405020304" pitchFamily="18" charset="0"/>
                                          </a:rPr>
                                        </m:ctrlPr>
                                      </m:dPr>
                                      <m:e>
                                        <m:acc>
                                          <m:accPr>
                                            <m:chr m:val="̂"/>
                                            <m:ctrlPr>
                                              <a:rPr lang="en-US" sz="2000" b="0" i="1" smtClean="0">
                                                <a:latin typeface="Cambria Math" panose="02040503050406030204" pitchFamily="18" charset="0"/>
                                                <a:cs typeface="Times New Roman" panose="02020603050405020304" pitchFamily="18" charset="0"/>
                                              </a:rPr>
                                            </m:ctrlPr>
                                          </m:accPr>
                                          <m:e>
                                            <m:r>
                                              <a:rPr lang="en-US" sz="2000" b="0" i="1" smtClean="0">
                                                <a:latin typeface="Cambria Math" panose="02040503050406030204" pitchFamily="18" charset="0"/>
                                                <a:cs typeface="Times New Roman" panose="02020603050405020304" pitchFamily="18" charset="0"/>
                                              </a:rPr>
                                              <m:t>𝑥</m:t>
                                            </m:r>
                                          </m:e>
                                        </m:acc>
                                      </m:e>
                                    </m:d>
                                  </m:den>
                                </m:f>
                                <m:nary>
                                  <m:naryPr>
                                    <m:chr m:val="∑"/>
                                    <m:supHide m:val="on"/>
                                    <m:ctrlPr>
                                      <a:rPr lang="en-US" sz="2000" b="0" i="1" smtClean="0">
                                        <a:latin typeface="Cambria Math" panose="02040503050406030204" pitchFamily="18" charset="0"/>
                                        <a:cs typeface="Times New Roman" panose="02020603050405020304" pitchFamily="18" charset="0"/>
                                      </a:rPr>
                                    </m:ctrlPr>
                                  </m:naryPr>
                                  <m:sub>
                                    <m:sSub>
                                      <m:sSubPr>
                                        <m:ctrlPr>
                                          <a:rPr lang="en-US" sz="2000" b="0" i="1" smtClean="0">
                                            <a:latin typeface="Cambria Math" panose="02040503050406030204" pitchFamily="18" charset="0"/>
                                            <a:cs typeface="Times New Roman" panose="02020603050405020304" pitchFamily="18" charset="0"/>
                                          </a:rPr>
                                        </m:ctrlPr>
                                      </m:sSubPr>
                                      <m:e>
                                        <m:acc>
                                          <m:accPr>
                                            <m:chr m:val="̂"/>
                                            <m:ctrlPr>
                                              <a:rPr lang="en-US" sz="2000" b="0" i="1" smtClean="0">
                                                <a:latin typeface="Cambria Math" panose="02040503050406030204" pitchFamily="18" charset="0"/>
                                                <a:cs typeface="Times New Roman" panose="02020603050405020304" pitchFamily="18" charset="0"/>
                                              </a:rPr>
                                            </m:ctrlPr>
                                          </m:accPr>
                                          <m:e>
                                            <m:r>
                                              <m:rPr>
                                                <m:brk m:alnAt="7"/>
                                              </m:rPr>
                                              <a:rPr lang="en-US" sz="2000" b="0" i="1" smtClean="0">
                                                <a:latin typeface="Cambria Math" panose="02040503050406030204" pitchFamily="18" charset="0"/>
                                                <a:cs typeface="Times New Roman" panose="02020603050405020304" pitchFamily="18" charset="0"/>
                                              </a:rPr>
                                              <m:t>𝑥</m:t>
                                            </m:r>
                                          </m:e>
                                        </m:acc>
                                      </m:e>
                                      <m:sub>
                                        <m:r>
                                          <a:rPr lang="en-US" sz="2000" b="0" i="1" smtClean="0">
                                            <a:latin typeface="Cambria Math" panose="02040503050406030204" pitchFamily="18" charset="0"/>
                                            <a:cs typeface="Times New Roman" panose="02020603050405020304" pitchFamily="18" charset="0"/>
                                          </a:rPr>
                                          <m:t>𝑗</m:t>
                                        </m:r>
                                      </m:sub>
                                    </m:sSub>
                                    <m:r>
                                      <a:rPr lang="en-US" sz="2000" b="0" i="1" smtClean="0">
                                        <a:latin typeface="Cambria Math" panose="02040503050406030204" pitchFamily="18" charset="0"/>
                                        <a:cs typeface="Times New Roman" panose="02020603050405020304" pitchFamily="18" charset="0"/>
                                      </a:rPr>
                                      <m:t>∈</m:t>
                                    </m:r>
                                    <m:acc>
                                      <m:accPr>
                                        <m:chr m:val="̂"/>
                                        <m:ctrlPr>
                                          <a:rPr lang="en-US" sz="2000" b="0" i="1" smtClean="0">
                                            <a:latin typeface="Cambria Math" panose="02040503050406030204" pitchFamily="18" charset="0"/>
                                            <a:cs typeface="Times New Roman" panose="02020603050405020304" pitchFamily="18" charset="0"/>
                                          </a:rPr>
                                        </m:ctrlPr>
                                      </m:accPr>
                                      <m:e>
                                        <m:r>
                                          <a:rPr lang="en-US" sz="2000" b="0" i="1" smtClean="0">
                                            <a:latin typeface="Cambria Math" panose="02040503050406030204" pitchFamily="18" charset="0"/>
                                            <a:cs typeface="Times New Roman" panose="02020603050405020304" pitchFamily="18" charset="0"/>
                                          </a:rPr>
                                          <m:t>𝑥</m:t>
                                        </m:r>
                                      </m:e>
                                    </m:acc>
                                  </m:sub>
                                  <m:sup/>
                                  <m:e>
                                    <m:func>
                                      <m:funcPr>
                                        <m:ctrlPr>
                                          <a:rPr lang="en-US" sz="2000" b="0" i="1" smtClean="0">
                                            <a:latin typeface="Cambria Math" panose="02040503050406030204" pitchFamily="18" charset="0"/>
                                            <a:cs typeface="Times New Roman" panose="02020603050405020304" pitchFamily="18" charset="0"/>
                                          </a:rPr>
                                        </m:ctrlPr>
                                      </m:funcPr>
                                      <m:fName>
                                        <m:limLow>
                                          <m:limLowPr>
                                            <m:ctrlPr>
                                              <a:rPr lang="en-US" sz="2000" b="0" i="1" smtClean="0">
                                                <a:latin typeface="Cambria Math" panose="02040503050406030204" pitchFamily="18" charset="0"/>
                                                <a:cs typeface="Times New Roman" panose="02020603050405020304" pitchFamily="18" charset="0"/>
                                              </a:rPr>
                                            </m:ctrlPr>
                                          </m:limLowPr>
                                          <m:e>
                                            <m:r>
                                              <m:rPr>
                                                <m:sty m:val="p"/>
                                              </m:rPr>
                                              <a:rPr lang="en-US" sz="2000" b="0" i="0" smtClean="0">
                                                <a:latin typeface="Cambria Math" panose="02040503050406030204" pitchFamily="18" charset="0"/>
                                                <a:cs typeface="Times New Roman" panose="02020603050405020304" pitchFamily="18" charset="0"/>
                                              </a:rPr>
                                              <m:t>max</m:t>
                                            </m:r>
                                          </m:e>
                                          <m:li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𝑥</m:t>
                                                </m:r>
                                              </m:e>
                                              <m:sub>
                                                <m:r>
                                                  <a:rPr lang="en-US" sz="2000" b="0" i="1" smtClean="0">
                                                    <a:latin typeface="Cambria Math" panose="02040503050406030204" pitchFamily="18" charset="0"/>
                                                    <a:cs typeface="Times New Roman" panose="02020603050405020304" pitchFamily="18" charset="0"/>
                                                  </a:rPr>
                                                  <m:t>𝑖</m:t>
                                                </m:r>
                                              </m:sub>
                                            </m:sSub>
                                            <m:r>
                                              <a:rPr lang="en-US" sz="2000" b="0" i="1" smtClean="0">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𝑥</m:t>
                                            </m:r>
                                          </m:lim>
                                        </m:limLow>
                                      </m:fName>
                                      <m:e>
                                        <m:sSubSup>
                                          <m:sSubSupPr>
                                            <m:ctrlPr>
                                              <a:rPr lang="en-US" sz="2000" b="1" i="1" smtClean="0">
                                                <a:latin typeface="Cambria Math" panose="02040503050406030204" pitchFamily="18" charset="0"/>
                                                <a:cs typeface="Times New Roman" panose="02020603050405020304" pitchFamily="18" charset="0"/>
                                              </a:rPr>
                                            </m:ctrlPr>
                                          </m:sSubSupPr>
                                          <m:e>
                                            <m:r>
                                              <a:rPr lang="en-US" sz="2000" b="1" i="0" smtClean="0">
                                                <a:latin typeface="Cambria Math" panose="02040503050406030204" pitchFamily="18" charset="0"/>
                                                <a:cs typeface="Times New Roman" panose="02020603050405020304" pitchFamily="18" charset="0"/>
                                              </a:rPr>
                                              <m:t>𝐱</m:t>
                                            </m:r>
                                          </m:e>
                                          <m:sub>
                                            <m:r>
                                              <a:rPr lang="en-US" sz="2000" b="1" i="0" smtClean="0">
                                                <a:latin typeface="Cambria Math" panose="02040503050406030204" pitchFamily="18" charset="0"/>
                                                <a:cs typeface="Times New Roman" panose="02020603050405020304" pitchFamily="18" charset="0"/>
                                              </a:rPr>
                                              <m:t>𝐢</m:t>
                                            </m:r>
                                          </m:sub>
                                          <m:sup>
                                            <m:r>
                                              <a:rPr lang="en-US" sz="2000" b="0" i="1" smtClean="0">
                                                <a:latin typeface="Cambria Math" panose="02040503050406030204" pitchFamily="18" charset="0"/>
                                                <a:cs typeface="Times New Roman" panose="02020603050405020304" pitchFamily="18" charset="0"/>
                                              </a:rPr>
                                              <m:t>⊤</m:t>
                                            </m:r>
                                          </m:sup>
                                        </m:sSubSup>
                                        <m:sSub>
                                          <m:sSubPr>
                                            <m:ctrlPr>
                                              <a:rPr lang="en-US" sz="2000" b="1" i="1" smtClean="0">
                                                <a:latin typeface="Cambria Math" panose="02040503050406030204" pitchFamily="18" charset="0"/>
                                                <a:cs typeface="Times New Roman" panose="02020603050405020304" pitchFamily="18" charset="0"/>
                                              </a:rPr>
                                            </m:ctrlPr>
                                          </m:sSubPr>
                                          <m:e>
                                            <m:acc>
                                              <m:accPr>
                                                <m:chr m:val="̂"/>
                                                <m:ctrlPr>
                                                  <a:rPr lang="en-US" sz="2000" b="1" i="1" smtClean="0">
                                                    <a:latin typeface="Cambria Math" panose="02040503050406030204" pitchFamily="18" charset="0"/>
                                                    <a:cs typeface="Times New Roman" panose="02020603050405020304" pitchFamily="18" charset="0"/>
                                                  </a:rPr>
                                                </m:ctrlPr>
                                              </m:accPr>
                                              <m:e>
                                                <m:r>
                                                  <a:rPr lang="en-US" sz="2000" b="1" i="0" smtClean="0">
                                                    <a:latin typeface="Cambria Math" panose="02040503050406030204" pitchFamily="18" charset="0"/>
                                                    <a:cs typeface="Times New Roman" panose="02020603050405020304" pitchFamily="18" charset="0"/>
                                                  </a:rPr>
                                                  <m:t>𝐱</m:t>
                                                </m:r>
                                              </m:e>
                                            </m:acc>
                                          </m:e>
                                          <m:sub>
                                            <m:r>
                                              <a:rPr lang="en-US" sz="2000" b="1" i="0" smtClean="0">
                                                <a:latin typeface="Cambria Math" panose="02040503050406030204" pitchFamily="18" charset="0"/>
                                                <a:cs typeface="Times New Roman" panose="02020603050405020304" pitchFamily="18" charset="0"/>
                                              </a:rPr>
                                              <m:t>𝐣</m:t>
                                            </m:r>
                                          </m:sub>
                                        </m:sSub>
                                      </m:e>
                                    </m:func>
                                  </m:e>
                                </m:nary>
                              </m:oMath>
                            </m:oMathPara>
                          </a14:m>
                          <a:endParaRPr lang="en-ID" sz="2000" dirty="0">
                            <a:latin typeface="Times New Roman" panose="02020603050405020304" pitchFamily="18" charset="0"/>
                            <a:cs typeface="Times New Roman" panose="02020603050405020304" pitchFamily="18" charset="0"/>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69594"/>
                      </a:ext>
                    </a:extLst>
                  </a:tr>
                  <a:tr h="1376385">
                    <a:tc vMerge="1">
                      <a:txBody>
                        <a:bodyPr/>
                        <a:lstStyle/>
                        <a:p>
                          <a:endParaRPr lang="en-ID"/>
                        </a:p>
                      </a:txBody>
                      <a:tcPr/>
                    </a:tc>
                    <a:tc gridSpan="2">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m:rPr>
                                        <m:nor/>
                                      </m:rPr>
                                      <a:rPr lang="en-US" sz="2000" b="0" i="0" smtClean="0">
                                        <a:latin typeface="Cambria Math" panose="02040503050406030204" pitchFamily="18" charset="0"/>
                                        <a:cs typeface="Times New Roman" panose="02020603050405020304" pitchFamily="18" charset="0"/>
                                      </a:rPr>
                                      <m:t>F</m:t>
                                    </m:r>
                                    <m:r>
                                      <m:rPr>
                                        <m:nor/>
                                      </m:rPr>
                                      <a:rPr lang="en-US" sz="2000" b="0" i="0" smtClean="0">
                                        <a:latin typeface="Cambria Math" panose="02040503050406030204" pitchFamily="18" charset="0"/>
                                        <a:cs typeface="Times New Roman" panose="02020603050405020304" pitchFamily="18" charset="0"/>
                                      </a:rPr>
                                      <m:t>1</m:t>
                                    </m:r>
                                  </m:e>
                                  <m:sub>
                                    <m:r>
                                      <m:rPr>
                                        <m:nor/>
                                      </m:rPr>
                                      <a:rPr lang="en-US" sz="2000" b="0" i="0" smtClean="0">
                                        <a:latin typeface="Cambria Math" panose="02040503050406030204" pitchFamily="18" charset="0"/>
                                        <a:cs typeface="Times New Roman" panose="02020603050405020304" pitchFamily="18" charset="0"/>
                                      </a:rPr>
                                      <m:t>BERT</m:t>
                                    </m:r>
                                  </m:sub>
                                </m:sSub>
                                <m:r>
                                  <a:rPr lang="en-US" sz="2000" b="0" i="1" smtClean="0">
                                    <a:latin typeface="Cambria Math" panose="02040503050406030204" pitchFamily="18" charset="0"/>
                                    <a:cs typeface="Times New Roman" panose="02020603050405020304" pitchFamily="18" charset="0"/>
                                  </a:rPr>
                                  <m:t>=2</m:t>
                                </m:r>
                                <m:f>
                                  <m:fPr>
                                    <m:ctrlPr>
                                      <a:rPr lang="en-US" sz="2000" b="0" i="1" smtClean="0">
                                        <a:latin typeface="Cambria Math" panose="02040503050406030204" pitchFamily="18" charset="0"/>
                                        <a:cs typeface="Times New Roman" panose="02020603050405020304" pitchFamily="18" charset="0"/>
                                      </a:rPr>
                                    </m:ctrlPr>
                                  </m:fPr>
                                  <m:nu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m:rPr>
                                            <m:nor/>
                                          </m:rPr>
                                          <a:rPr lang="en-US" sz="2000" b="0" i="0" smtClean="0">
                                            <a:latin typeface="Cambria Math" panose="02040503050406030204" pitchFamily="18" charset="0"/>
                                            <a:cs typeface="Times New Roman" panose="02020603050405020304" pitchFamily="18" charset="0"/>
                                          </a:rPr>
                                          <m:t>BERT</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𝑅</m:t>
                                        </m:r>
                                      </m:e>
                                      <m:sub>
                                        <m:r>
                                          <m:rPr>
                                            <m:nor/>
                                          </m:rPr>
                                          <a:rPr lang="en-US" sz="2000" b="0" i="0" smtClean="0">
                                            <a:latin typeface="Cambria Math" panose="02040503050406030204" pitchFamily="18" charset="0"/>
                                            <a:cs typeface="Times New Roman" panose="02020603050405020304" pitchFamily="18" charset="0"/>
                                          </a:rPr>
                                          <m:t>BERT</m:t>
                                        </m:r>
                                      </m:sub>
                                    </m:sSub>
                                  </m:num>
                                  <m:den>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m:rPr>
                                            <m:nor/>
                                          </m:rPr>
                                          <a:rPr lang="en-US" sz="2000" b="0" i="0" smtClean="0">
                                            <a:latin typeface="Cambria Math" panose="02040503050406030204" pitchFamily="18" charset="0"/>
                                            <a:cs typeface="Times New Roman" panose="02020603050405020304" pitchFamily="18" charset="0"/>
                                          </a:rPr>
                                          <m:t>BERT</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𝑅</m:t>
                                        </m:r>
                                      </m:e>
                                      <m:sub>
                                        <m:r>
                                          <m:rPr>
                                            <m:nor/>
                                          </m:rPr>
                                          <a:rPr lang="en-US" sz="2000" b="0" i="0" smtClean="0">
                                            <a:latin typeface="Cambria Math" panose="02040503050406030204" pitchFamily="18" charset="0"/>
                                            <a:cs typeface="Times New Roman" panose="02020603050405020304" pitchFamily="18" charset="0"/>
                                          </a:rPr>
                                          <m:t>BERT</m:t>
                                        </m:r>
                                      </m:sub>
                                    </m:sSub>
                                  </m:den>
                                </m:f>
                              </m:oMath>
                            </m:oMathPara>
                          </a14:m>
                          <a:endParaRPr lang="en-ID" sz="20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T w="12700" cap="flat" cmpd="sng" algn="ctr">
                          <a:noFill/>
                          <a:prstDash val="solid"/>
                          <a:round/>
                          <a:headEnd type="none" w="med" len="med"/>
                          <a:tailEnd type="none" w="med" len="med"/>
                        </a:lnT>
                      </a:tcPr>
                    </a:tc>
                    <a:tc hMerge="1">
                      <a:txBody>
                        <a:bodyPr/>
                        <a:lstStyle/>
                        <a:p>
                          <a:pPr algn="ctr"/>
                          <a:endParaRPr lang="en-ID"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64030248"/>
                      </a:ext>
                    </a:extLst>
                  </a:tr>
                </a:tbl>
              </a:graphicData>
            </a:graphic>
          </p:graphicFrame>
        </mc:Choice>
        <mc:Fallback xmlns="">
          <p:graphicFrame>
            <p:nvGraphicFramePr>
              <p:cNvPr id="6" name="Table 6">
                <a:extLst>
                  <a:ext uri="{FF2B5EF4-FFF2-40B4-BE49-F238E27FC236}">
                    <a16:creationId xmlns:a16="http://schemas.microsoft.com/office/drawing/2014/main" id="{F131EE98-A62B-A2EC-A8FF-1B3E875F6ADB}"/>
                  </a:ext>
                </a:extLst>
              </p:cNvPr>
              <p:cNvGraphicFramePr>
                <a:graphicFrameLocks noGrp="1"/>
              </p:cNvGraphicFramePr>
              <p:nvPr>
                <p:extLst>
                  <p:ext uri="{D42A27DB-BD31-4B8C-83A1-F6EECF244321}">
                    <p14:modId xmlns:p14="http://schemas.microsoft.com/office/powerpoint/2010/main" val="366245512"/>
                  </p:ext>
                </p:extLst>
              </p:nvPr>
            </p:nvGraphicFramePr>
            <p:xfrm>
              <a:off x="11701317" y="26572999"/>
              <a:ext cx="9431103" cy="5244075"/>
            </p:xfrm>
            <a:graphic>
              <a:graphicData uri="http://schemas.openxmlformats.org/drawingml/2006/table">
                <a:tbl>
                  <a:tblPr firstRow="1" bandRow="1">
                    <a:tableStyleId>{073A0DAA-6AF3-43AB-8588-CEC1D06C72B9}</a:tableStyleId>
                  </a:tblPr>
                  <a:tblGrid>
                    <a:gridCol w="2605399">
                      <a:extLst>
                        <a:ext uri="{9D8B030D-6E8A-4147-A177-3AD203B41FA5}">
                          <a16:colId xmlns:a16="http://schemas.microsoft.com/office/drawing/2014/main" val="1929203496"/>
                        </a:ext>
                      </a:extLst>
                    </a:gridCol>
                    <a:gridCol w="3412852">
                      <a:extLst>
                        <a:ext uri="{9D8B030D-6E8A-4147-A177-3AD203B41FA5}">
                          <a16:colId xmlns:a16="http://schemas.microsoft.com/office/drawing/2014/main" val="687639961"/>
                        </a:ext>
                      </a:extLst>
                    </a:gridCol>
                    <a:gridCol w="3412852">
                      <a:extLst>
                        <a:ext uri="{9D8B030D-6E8A-4147-A177-3AD203B41FA5}">
                          <a16:colId xmlns:a16="http://schemas.microsoft.com/office/drawing/2014/main" val="3500217291"/>
                        </a:ext>
                      </a:extLst>
                    </a:gridCol>
                  </a:tblGrid>
                  <a:tr h="449355">
                    <a:tc>
                      <a:txBody>
                        <a:bodyPr/>
                        <a:lstStyle/>
                        <a:p>
                          <a:pPr algn="ctr"/>
                          <a:r>
                            <a:rPr lang="en-US" sz="2000" dirty="0">
                              <a:latin typeface="Times New Roman" panose="02020603050405020304" pitchFamily="18" charset="0"/>
                              <a:cs typeface="Times New Roman" panose="02020603050405020304" pitchFamily="18" charset="0"/>
                            </a:rPr>
                            <a:t>Metric</a:t>
                          </a:r>
                          <a:endParaRPr lang="en-ID" sz="2000" dirty="0">
                            <a:latin typeface="Times New Roman" panose="02020603050405020304" pitchFamily="18" charset="0"/>
                            <a:cs typeface="Times New Roman" panose="02020603050405020304" pitchFamily="18" charset="0"/>
                          </a:endParaRPr>
                        </a:p>
                      </a:txBody>
                      <a:tcPr anchor="ctr"/>
                    </a:tc>
                    <a:tc gridSpan="2">
                      <a:txBody>
                        <a:bodyPr/>
                        <a:lstStyle/>
                        <a:p>
                          <a:pPr algn="ctr"/>
                          <a:r>
                            <a:rPr lang="en-US" sz="2000" dirty="0">
                              <a:latin typeface="Times New Roman" panose="02020603050405020304" pitchFamily="18" charset="0"/>
                              <a:cs typeface="Times New Roman" panose="02020603050405020304" pitchFamily="18" charset="0"/>
                            </a:rPr>
                            <a:t>Formula</a:t>
                          </a:r>
                          <a:endParaRPr lang="en-ID" sz="2000" dirty="0">
                            <a:latin typeface="Times New Roman" panose="02020603050405020304" pitchFamily="18" charset="0"/>
                            <a:cs typeface="Times New Roman" panose="02020603050405020304" pitchFamily="18" charset="0"/>
                          </a:endParaRPr>
                        </a:p>
                      </a:txBody>
                      <a:tcPr anchor="ctr"/>
                    </a:tc>
                    <a:tc hMerge="1">
                      <a:txBody>
                        <a:bodyPr/>
                        <a:lstStyle/>
                        <a:p>
                          <a:endParaRPr lang="en-ID"/>
                        </a:p>
                      </a:txBody>
                      <a:tcPr/>
                    </a:tc>
                    <a:extLst>
                      <a:ext uri="{0D108BD9-81ED-4DB2-BD59-A6C34878D82A}">
                        <a16:rowId xmlns:a16="http://schemas.microsoft.com/office/drawing/2014/main" val="2752419581"/>
                      </a:ext>
                    </a:extLst>
                  </a:tr>
                  <a:tr h="1254392">
                    <a:tc>
                      <a:txBody>
                        <a:bodyPr/>
                        <a:lstStyle/>
                        <a:p>
                          <a:pPr algn="ctr"/>
                          <a:r>
                            <a:rPr lang="en-US" sz="2000" dirty="0">
                              <a:latin typeface="Times New Roman" panose="02020603050405020304" pitchFamily="18" charset="0"/>
                              <a:cs typeface="Times New Roman" panose="02020603050405020304" pitchFamily="18" charset="0"/>
                            </a:rPr>
                            <a:t>BLEU-4</a:t>
                          </a:r>
                          <a:endParaRPr lang="en-ID" sz="2000" dirty="0">
                            <a:latin typeface="Times New Roman" panose="02020603050405020304" pitchFamily="18" charset="0"/>
                            <a:cs typeface="Times New Roman" panose="02020603050405020304" pitchFamily="18" charset="0"/>
                          </a:endParaRPr>
                        </a:p>
                      </a:txBody>
                      <a:tcPr anchor="ctr"/>
                    </a:tc>
                    <a:tc gridSpan="2">
                      <a:txBody>
                        <a:bodyPr/>
                        <a:lstStyle/>
                        <a:p>
                          <a:endParaRPr lang="en-US"/>
                        </a:p>
                      </a:txBody>
                      <a:tcPr anchor="ctr">
                        <a:blipFill>
                          <a:blip r:embed="rId6"/>
                          <a:stretch>
                            <a:fillRect l="-38304" t="-36408" r="-357" b="-283010"/>
                          </a:stretch>
                        </a:blipFill>
                      </a:tcPr>
                    </a:tc>
                    <a:tc hMerge="1">
                      <a:txBody>
                        <a:bodyPr/>
                        <a:lstStyle/>
                        <a:p>
                          <a:endParaRPr lang="en-ID"/>
                        </a:p>
                      </a:txBody>
                      <a:tcPr/>
                    </a:tc>
                    <a:extLst>
                      <a:ext uri="{0D108BD9-81ED-4DB2-BD59-A6C34878D82A}">
                        <a16:rowId xmlns:a16="http://schemas.microsoft.com/office/drawing/2014/main" val="2410960447"/>
                      </a:ext>
                    </a:extLst>
                  </a:tr>
                  <a:tr h="787558">
                    <a:tc>
                      <a:txBody>
                        <a:bodyPr/>
                        <a:lstStyle/>
                        <a:p>
                          <a:pPr algn="ctr"/>
                          <a:r>
                            <a:rPr lang="en-US" sz="2000" dirty="0">
                              <a:latin typeface="Times New Roman" panose="02020603050405020304" pitchFamily="18" charset="0"/>
                              <a:cs typeface="Times New Roman" panose="02020603050405020304" pitchFamily="18" charset="0"/>
                            </a:rPr>
                            <a:t>ROUGE-L [4]</a:t>
                          </a:r>
                          <a:endParaRPr lang="en-ID" sz="2000" dirty="0">
                            <a:latin typeface="Times New Roman" panose="02020603050405020304" pitchFamily="18" charset="0"/>
                            <a:cs typeface="Times New Roman" panose="02020603050405020304" pitchFamily="18" charset="0"/>
                          </a:endParaRPr>
                        </a:p>
                      </a:txBody>
                      <a:tcPr anchor="ctr">
                        <a:lnB w="12700" cap="flat" cmpd="sng" algn="ctr">
                          <a:solidFill>
                            <a:schemeClr val="bg1"/>
                          </a:solidFill>
                          <a:prstDash val="solid"/>
                          <a:round/>
                          <a:headEnd type="none" w="med" len="med"/>
                          <a:tailEnd type="none" w="med" len="med"/>
                        </a:lnB>
                      </a:tcPr>
                    </a:tc>
                    <a:tc gridSpan="2">
                      <a:txBody>
                        <a:bodyPr/>
                        <a:lstStyle/>
                        <a:p>
                          <a:endParaRPr lang="en-US"/>
                        </a:p>
                      </a:txBody>
                      <a:tcPr anchor="ctr">
                        <a:lnB w="12700" cap="flat" cmpd="sng" algn="ctr">
                          <a:noFill/>
                          <a:prstDash val="solid"/>
                          <a:round/>
                          <a:headEnd type="none" w="med" len="med"/>
                          <a:tailEnd type="none" w="med" len="med"/>
                        </a:lnB>
                        <a:blipFill>
                          <a:blip r:embed="rId6"/>
                          <a:stretch>
                            <a:fillRect l="-38304" t="-217829" r="-357" b="-351938"/>
                          </a:stretch>
                        </a:blipFill>
                      </a:tcPr>
                    </a:tc>
                    <a:tc hMerge="1">
                      <a:txBody>
                        <a:bodyPr/>
                        <a:lstStyle/>
                        <a:p>
                          <a:endParaRPr lang="en-ID"/>
                        </a:p>
                      </a:txBody>
                      <a:tcPr/>
                    </a:tc>
                    <a:extLst>
                      <a:ext uri="{0D108BD9-81ED-4DB2-BD59-A6C34878D82A}">
                        <a16:rowId xmlns:a16="http://schemas.microsoft.com/office/drawing/2014/main" val="3746138312"/>
                      </a:ext>
                    </a:extLst>
                  </a:tr>
                  <a:tr h="1376385">
                    <a:tc rowSpan="2">
                      <a:txBody>
                        <a:bodyPr/>
                        <a:lstStyle/>
                        <a:p>
                          <a:pPr algn="ctr"/>
                          <a:r>
                            <a:rPr lang="en-US" sz="2000" dirty="0" err="1">
                              <a:latin typeface="Times New Roman" panose="02020603050405020304" pitchFamily="18" charset="0"/>
                              <a:cs typeface="Times New Roman" panose="02020603050405020304" pitchFamily="18" charset="0"/>
                            </a:rPr>
                            <a:t>BERTScore</a:t>
                          </a:r>
                          <a:r>
                            <a:rPr lang="en-US" sz="2000" dirty="0">
                              <a:latin typeface="Times New Roman" panose="02020603050405020304" pitchFamily="18" charset="0"/>
                              <a:cs typeface="Times New Roman" panose="02020603050405020304" pitchFamily="18" charset="0"/>
                            </a:rPr>
                            <a:t> [5]</a:t>
                          </a:r>
                          <a:endParaRPr lang="en-ID" sz="2000" dirty="0">
                            <a:latin typeface="Times New Roman" panose="02020603050405020304" pitchFamily="18" charset="0"/>
                            <a:cs typeface="Times New Roman" panose="02020603050405020304" pitchFamily="18"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76607" t="-181416" r="-100714" b="-100885"/>
                          </a:stretch>
                        </a:blipFill>
                      </a:tcPr>
                    </a:tc>
                    <a:tc>
                      <a:txBody>
                        <a:bodyPr/>
                        <a:lstStyle/>
                        <a:p>
                          <a:endParaRPr lang="en-US"/>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176607" t="-181416" r="-714" b="-100885"/>
                          </a:stretch>
                        </a:blipFill>
                      </a:tcPr>
                    </a:tc>
                    <a:extLst>
                      <a:ext uri="{0D108BD9-81ED-4DB2-BD59-A6C34878D82A}">
                        <a16:rowId xmlns:a16="http://schemas.microsoft.com/office/drawing/2014/main" val="3718569594"/>
                      </a:ext>
                    </a:extLst>
                  </a:tr>
                  <a:tr h="1376385">
                    <a:tc vMerge="1">
                      <a:txBody>
                        <a:bodyPr/>
                        <a:lstStyle/>
                        <a:p>
                          <a:endParaRPr lang="en-ID"/>
                        </a:p>
                      </a:txBody>
                      <a:tcPr/>
                    </a:tc>
                    <a:tc gridSpan="2">
                      <a:txBody>
                        <a:bodyPr/>
                        <a:lstStyle/>
                        <a:p>
                          <a:endParaRPr lang="en-US"/>
                        </a:p>
                      </a:txBody>
                      <a:tcPr anchor="ctr">
                        <a:lnL w="12700" cap="flat" cmpd="sng" algn="ctr">
                          <a:solidFill>
                            <a:schemeClr val="bg1"/>
                          </a:solidFill>
                          <a:prstDash val="solid"/>
                          <a:round/>
                          <a:headEnd type="none" w="med" len="med"/>
                          <a:tailEnd type="none" w="med" len="med"/>
                        </a:lnL>
                        <a:lnT w="12700" cap="flat" cmpd="sng" algn="ctr">
                          <a:noFill/>
                          <a:prstDash val="solid"/>
                          <a:round/>
                          <a:headEnd type="none" w="med" len="med"/>
                          <a:tailEnd type="none" w="med" len="med"/>
                        </a:lnT>
                        <a:blipFill>
                          <a:blip r:embed="rId6"/>
                          <a:stretch>
                            <a:fillRect l="-38304" t="-281416" r="-357" b="-885"/>
                          </a:stretch>
                        </a:blipFill>
                      </a:tcPr>
                    </a:tc>
                    <a:tc hMerge="1">
                      <a:txBody>
                        <a:bodyPr/>
                        <a:lstStyle/>
                        <a:p>
                          <a:pPr algn="ctr"/>
                          <a:endParaRPr lang="en-ID"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64030248"/>
                      </a:ext>
                    </a:extLst>
                  </a:tr>
                </a:tbl>
              </a:graphicData>
            </a:graphic>
          </p:graphicFrame>
        </mc:Fallback>
      </mc:AlternateContent>
      <p:pic>
        <p:nvPicPr>
          <p:cNvPr id="12" name="Picture 11">
            <a:extLst>
              <a:ext uri="{FF2B5EF4-FFF2-40B4-BE49-F238E27FC236}">
                <a16:creationId xmlns:a16="http://schemas.microsoft.com/office/drawing/2014/main" id="{54665C80-512D-ABC2-0F40-907C23076986}"/>
              </a:ext>
            </a:extLst>
          </p:cNvPr>
          <p:cNvPicPr>
            <a:picLocks noChangeAspect="1"/>
          </p:cNvPicPr>
          <p:nvPr/>
        </p:nvPicPr>
        <p:blipFill rotWithShape="1">
          <a:blip r:embed="rId7"/>
          <a:srcRect l="2985" t="6759" r="4166" b="6054"/>
          <a:stretch/>
        </p:blipFill>
        <p:spPr>
          <a:xfrm>
            <a:off x="11535509" y="10879017"/>
            <a:ext cx="9785727" cy="5533291"/>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1634</TotalTime>
  <Words>1553</Words>
  <Application>Microsoft Office PowerPoint</Application>
  <PresentationFormat>Custom</PresentationFormat>
  <Paragraphs>108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Symbol</vt:lpstr>
      <vt:lpstr>Times New Roman</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Shulda;www.postersession.com</dc:creator>
  <cp:keywords>www.postersession.com</cp:keywords>
  <dc:description>©MegaPrint Inc. 2009-2015</dc:description>
  <cp:lastModifiedBy>Georgius Irianto</cp:lastModifiedBy>
  <cp:revision>91</cp:revision>
  <cp:lastPrinted>2011-03-08T18:07:35Z</cp:lastPrinted>
  <dcterms:created xsi:type="dcterms:W3CDTF">2008-12-04T00:20:37Z</dcterms:created>
  <dcterms:modified xsi:type="dcterms:W3CDTF">2026-03-08T15:46:05Z</dcterms:modified>
  <cp:category>Research Poster</cp:category>
</cp:coreProperties>
</file>